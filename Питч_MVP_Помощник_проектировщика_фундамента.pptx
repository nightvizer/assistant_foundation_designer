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BM Plex Mono" panose="020B0509050203000203" pitchFamily="49" charset="-52"/>
      <p:regular r:id="rId18"/>
    </p:embeddedFont>
    <p:embeddedFont>
      <p:font typeface="Jost" pitchFamily="2" charset="-52"/>
      <p:regular r:id="rId19"/>
      <p:bold r:id="rId20"/>
    </p:embeddedFont>
    <p:embeddedFont>
      <p:font typeface="Jost Medium" pitchFamily="2" charset="-52"/>
      <p:regular r:id="rId21"/>
    </p:embeddedFont>
    <p:embeddedFont>
      <p:font typeface="Jost SemiBold" pitchFamily="2" charset="-52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6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0:00–0:10 (10 с)</a:t>
            </a:r>
          </a:p>
          <a:p>
            <a:r>
              <a:t>Регламент: 5:00 = 4:00 речи + 1:00 видео на слайде 5.</a:t>
            </a:r>
          </a:p>
          <a:p>
            <a:endParaRPr/>
          </a:p>
          <a:p>
            <a:r>
              <a:t>Здравствуйте! Мы делаем помощника проектировщика фундамента: сервис, который по данным о грунте, здании и площадке подбирает тип фундамента и объясняет выбор. За пять минут покажем, как работает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0:10–0:40 (30 с)</a:t>
            </a:r>
          </a:p>
          <a:p>
            <a:endParaRPr/>
          </a:p>
          <a:p>
            <a:r>
              <a:t>Сегодня тип фундамента подбирают вручную, по опыту. Из-за типовых ошибок проект возвращается на три и более итерации проверки. С этим сталкиваются проектировщики и конструкторы, которые готовят раздел фундаментов в ПСД: тип не подходит под грунт, стоимость и трудозатраты посчитаны неточно, региональные цены не учтены. Каждая итерация удлиняет согласование, а материалы только за 2025 год подорожали на 8–15 процентов.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0:40–1:10 (30 с)</a:t>
            </a:r>
          </a:p>
          <a:p>
            <a:endParaRPr/>
          </a:p>
          <a:p>
            <a:r>
              <a:t>ЛИРА-САПР, SCAD Office и nanoCAD хорошо считают конструкцию, но уже выбранного типа. Сравнить плиту, ленту, сваи и столбы между собой и понять, что выгоднее, они не помогают, по крайней мере по открытым описаниям. Мы не заменяем САПР, а закрываем шаг до расчёта. Спрос есть: интерес к цене фундамента держится все 53 недели года, а запросы про ИИ в строительстве почти не встречаются. Переход на ТИМ, дефицит проектировщиков и регионализация цен только усиливают спрос на автоматизацию.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1:10–1:35 (25 с)</a:t>
            </a:r>
          </a:p>
          <a:p>
            <a:endParaRPr/>
          </a:p>
          <a:p>
            <a:r>
              <a:t>Наше решение: веб-сервис. Проектировщик вводит девять параметров площадки. Модель Jev оценивает пригодность четырёх типов фундамента: ленточного, плитного, свайного и столбчатого. На выходе рекомендация, две альтернативы с процентами, плюсы и минусы и отчёт для инженера в PDF. Покажем, как это выглядит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1:35–2:35 (60 с): ВИДЕО</a:t>
            </a:r>
          </a:p>
          <a:p>
            <a:endParaRPr/>
          </a:p>
          <a:p>
            <a:r>
              <a:t>Сценарий: суглинок, средняя несущая способность, высокий уровень грунтовых вод, 3 этажа, 450 м², кирпич, резко континентальный климат, промерзание 1,5–2,0 м, 7 баллов. Результат: свайный 84%, плитный 77%, ленточный 22%, затем отчёт для инженера и PDF.</a:t>
            </a:r>
          </a:p>
          <a:p>
            <a:endParaRPr/>
          </a:p>
          <a:p>
            <a:r>
              <a:t>Как вставить видео: щёлкните значок в центре рамки (или Вставка &gt; Видео &gt; Это устройство, выделив рамку). Видео займёт рамку. Затем вкладка «Воспроизведение»: Начало &gt; Автоматически, при необходимости «Во весь экран». Если видео не 16:9, подгоните его по рамке через Обрезку.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2:35–3:05 (30 с)</a:t>
            </a:r>
          </a:p>
          <a:p>
            <a:endParaRPr/>
          </a:p>
          <a:p>
            <a:r>
              <a:t>Главное отличие: выбор прозрачен. В справочнике для каждого типа и каждого фактора задан вердикт и сила влияния. Модель Jev получает только оценки для ваших данных и считает проценты. DeepSeek пишет объяснение и отчёт, но числа не меняет, поэтому текст не расходится с оценкой. Здесь видно, почему столбчатый отпал: при трёх этажах правило его исключает. Выбор проверяется по правилам, а не на доверии.</a:t>
            </a:r>
          </a:p>
          <a:p>
            <a:endParaRPr/>
          </a:p>
          <a:p>
            <a:r>
              <a:t>Матрица построена по backend/app/data/jev_rules.json для сценария из видео; проценты из расчёта Jev.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3:05–3:30 (25 с)</a:t>
            </a:r>
          </a:p>
          <a:p>
            <a:endParaRPr/>
          </a:p>
          <a:p>
            <a:r>
              <a:t>Это работающий MVP, а не макет: форма ввода с проверкой, оценка четырёх типов, топ-3 с процентами, плюсы и минусы и инженерный отчёт с матрицей, рисками и выводом, который скачивается в PDF. Стек: React и TypeScript на фронте, FastAPI на бэкенде, оценка через Jev и тексты через DeepSeek на OpenRouter.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3:30–3:55 (25 с)</a:t>
            </a:r>
          </a:p>
          <a:p>
            <a:endParaRPr/>
          </a:p>
          <a:p>
            <a:r>
              <a:t>Что это даёт. Проектировщик получает рейтинг сразу, без ручного сравнения. Ошибку подбора видно до проверки, потому что каждый вердикт привязан к правилу. Компания экономит часы инженеров, сокращает сроки ПСД и может предложить заказчику более дешёвый фундамент. Честно: замеров пока нет, эффект подтвердим на пилоте по трём метрикам.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3:55–4:15 (20 с)</a:t>
            </a:r>
          </a:p>
          <a:p>
            <a:endParaRPr/>
          </a:p>
          <a:p>
            <a:r>
              <a:t>План. MVP готов на хакатоне. Следующий шаг: пилот с проектной компанией. Выводим стоимость и трудозатраты в интерфейс, подключаем цены из ФГИС ЦС и замеряем время и число итераций. Запускаемся к строительному сезону, пик спроса приходится на апрель–май. Дальше слои грунта, комбинированные фундаменты и интеграция с ТИМ и САПР.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4:15–4:30 (15 с)</a:t>
            </a:r>
          </a:p>
          <a:p>
            <a:endParaRPr/>
          </a:p>
          <a:p>
            <a:r>
              <a:t>Наша команда: Михаил и Илья отвечают за разработку, бэкенд и фронтенд. Ярослав и Кирилл за анализ рынка и макротрендов. Иван за идеи и отчётность.</a:t>
            </a:r>
          </a:p>
          <a:p>
            <a:endParaRPr/>
          </a:p>
          <a:p>
            <a:r>
              <a:t>Фото: щёлкните значок в рамке и выберите файл, PowerPoint сам обрежет снимок по рамке 4:5.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4:30–4:40 (10 с)</a:t>
            </a:r>
          </a:p>
          <a:p>
            <a:endParaRPr/>
          </a:p>
          <a:p>
            <a:r>
              <a:t>Итог: выбор фундамента за минуты и с прозрачным обоснованием, а не через три итерации проверки. Спасибо!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Виде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Видео"/>
          <p:cNvSpPr>
            <a:spLocks noGrp="1"/>
          </p:cNvSpPr>
          <p:nvPr>
            <p:ph type="media" sz="quarter" idx="10" hasCustomPrompt="1"/>
          </p:nvPr>
        </p:nvSpPr>
        <p:spPr>
          <a:xfrm>
            <a:off x="1666088" y="1481328"/>
            <a:ext cx="8859520" cy="4983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128016" anchor="b">
            <a:noAutofit/>
          </a:bodyPr>
          <a:lstStyle>
            <a:lvl1pPr marL="0" indent="0" algn="ctr">
              <a:buNone/>
              <a:defRPr sz="1000">
                <a:solidFill>
                  <a:srgbClr val="6A6A70"/>
                </a:solidFill>
                <a:latin typeface="IBM Plex Mono"/>
              </a:defRPr>
            </a:lvl1pPr>
          </a:lstStyle>
          <a:p>
            <a:r>
              <a:rPr lang="ru-RU"/>
              <a:t>Вставьте видео: 16:9, 1 минута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Фото: Михаил Богомолов"/>
          <p:cNvSpPr>
            <a:spLocks noGrp="1"/>
          </p:cNvSpPr>
          <p:nvPr>
            <p:ph type="pic" sz="quarter" idx="11" hasCustomPrompt="1"/>
          </p:nvPr>
        </p:nvSpPr>
        <p:spPr>
          <a:xfrm>
            <a:off x="566928" y="2194560"/>
            <a:ext cx="1991563" cy="2487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128016" anchor="b">
            <a:noAutofit/>
          </a:bodyPr>
          <a:lstStyle>
            <a:lvl1pPr marL="0" indent="0" algn="ctr">
              <a:buNone/>
              <a:defRPr sz="1000">
                <a:solidFill>
                  <a:srgbClr val="6A6A70"/>
                </a:solidFill>
                <a:latin typeface="IBM Plex Mono"/>
              </a:defRPr>
            </a:lvl1pPr>
          </a:lstStyle>
          <a:p>
            <a:r>
              <a:rPr lang="ru-RU"/>
              <a:t>Фото</a:t>
            </a:r>
          </a:p>
        </p:txBody>
      </p:sp>
      <p:sp>
        <p:nvSpPr>
          <p:cNvPr id="12" name="Фото: Илья Аверкин"/>
          <p:cNvSpPr>
            <a:spLocks noGrp="1"/>
          </p:cNvSpPr>
          <p:nvPr>
            <p:ph type="pic" sz="quarter" idx="12" hasCustomPrompt="1"/>
          </p:nvPr>
        </p:nvSpPr>
        <p:spPr>
          <a:xfrm>
            <a:off x="2832811" y="2194560"/>
            <a:ext cx="1991563" cy="2487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128016" anchor="b">
            <a:noAutofit/>
          </a:bodyPr>
          <a:lstStyle>
            <a:lvl1pPr marL="0" indent="0" algn="ctr">
              <a:buNone/>
              <a:defRPr sz="1000">
                <a:solidFill>
                  <a:srgbClr val="6A6A70"/>
                </a:solidFill>
                <a:latin typeface="IBM Plex Mono"/>
              </a:defRPr>
            </a:lvl1pPr>
          </a:lstStyle>
          <a:p>
            <a:r>
              <a:rPr lang="ru-RU"/>
              <a:t>Фото</a:t>
            </a:r>
          </a:p>
        </p:txBody>
      </p:sp>
      <p:sp>
        <p:nvSpPr>
          <p:cNvPr id="13" name="Фото: Ярослав Мещанов"/>
          <p:cNvSpPr>
            <a:spLocks noGrp="1"/>
          </p:cNvSpPr>
          <p:nvPr>
            <p:ph type="pic" sz="quarter" idx="13" hasCustomPrompt="1"/>
          </p:nvPr>
        </p:nvSpPr>
        <p:spPr>
          <a:xfrm>
            <a:off x="5098694" y="2194560"/>
            <a:ext cx="1991563" cy="2487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128016" anchor="b">
            <a:noAutofit/>
          </a:bodyPr>
          <a:lstStyle>
            <a:lvl1pPr marL="0" indent="0" algn="ctr">
              <a:buNone/>
              <a:defRPr sz="1000">
                <a:solidFill>
                  <a:srgbClr val="6A6A70"/>
                </a:solidFill>
                <a:latin typeface="IBM Plex Mono"/>
              </a:defRPr>
            </a:lvl1pPr>
          </a:lstStyle>
          <a:p>
            <a:r>
              <a:rPr lang="ru-RU"/>
              <a:t>Фото</a:t>
            </a:r>
          </a:p>
        </p:txBody>
      </p:sp>
      <p:sp>
        <p:nvSpPr>
          <p:cNvPr id="14" name="Фото: Кирилл Кудряшов"/>
          <p:cNvSpPr>
            <a:spLocks noGrp="1"/>
          </p:cNvSpPr>
          <p:nvPr>
            <p:ph type="pic" sz="quarter" idx="14" hasCustomPrompt="1"/>
          </p:nvPr>
        </p:nvSpPr>
        <p:spPr>
          <a:xfrm>
            <a:off x="7364578" y="2194560"/>
            <a:ext cx="1991563" cy="2487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128016" anchor="b">
            <a:noAutofit/>
          </a:bodyPr>
          <a:lstStyle>
            <a:lvl1pPr marL="0" indent="0" algn="ctr">
              <a:buNone/>
              <a:defRPr sz="1000">
                <a:solidFill>
                  <a:srgbClr val="6A6A70"/>
                </a:solidFill>
                <a:latin typeface="IBM Plex Mono"/>
              </a:defRPr>
            </a:lvl1pPr>
          </a:lstStyle>
          <a:p>
            <a:r>
              <a:rPr lang="ru-RU"/>
              <a:t>Фото</a:t>
            </a:r>
          </a:p>
        </p:txBody>
      </p:sp>
      <p:sp>
        <p:nvSpPr>
          <p:cNvPr id="15" name="Фото: Иван Тихненко"/>
          <p:cNvSpPr>
            <a:spLocks noGrp="1"/>
          </p:cNvSpPr>
          <p:nvPr>
            <p:ph type="pic" sz="quarter" idx="15" hasCustomPrompt="1"/>
          </p:nvPr>
        </p:nvSpPr>
        <p:spPr>
          <a:xfrm>
            <a:off x="9630461" y="2194560"/>
            <a:ext cx="1991563" cy="2487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128016" anchor="b">
            <a:noAutofit/>
          </a:bodyPr>
          <a:lstStyle>
            <a:lvl1pPr marL="0" indent="0" algn="ctr">
              <a:buNone/>
              <a:defRPr sz="1000">
                <a:solidFill>
                  <a:srgbClr val="6A6A70"/>
                </a:solidFill>
                <a:latin typeface="IBM Plex Mono"/>
              </a:defRPr>
            </a:lvl1pPr>
          </a:lstStyle>
          <a:p>
            <a:r>
              <a:rPr lang="ru-RU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Четверть круга"/>
          <p:cNvSpPr/>
          <p:nvPr/>
        </p:nvSpPr>
        <p:spPr>
          <a:xfrm>
            <a:off x="9174175" y="0"/>
            <a:ext cx="3017520" cy="3017520"/>
          </a:xfrm>
          <a:custGeom>
            <a:avLst/>
            <a:gdLst/>
            <a:ahLst/>
            <a:cxnLst/>
            <a:rect l="0" t="0" r="r" b="b"/>
            <a:pathLst>
              <a:path w="3017520" h="3017520">
                <a:moveTo>
                  <a:pt x="3017520" y="0"/>
                </a:moveTo>
                <a:lnTo>
                  <a:pt x="0" y="0"/>
                </a:lnTo>
                <a:arcTo wR="3017520" hR="30175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3" name="Точки" descr="backdrop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4440" y="3017520"/>
            <a:ext cx="2468880" cy="3840480"/>
          </a:xfrm>
          <a:prstGeom prst="rect">
            <a:avLst/>
          </a:prstGeom>
        </p:spPr>
      </p:pic>
      <p:sp>
        <p:nvSpPr>
          <p:cNvPr id="4" name="Лист"/>
          <p:cNvSpPr/>
          <p:nvPr/>
        </p:nvSpPr>
        <p:spPr>
          <a:xfrm>
            <a:off x="868680" y="475488"/>
            <a:ext cx="10454335" cy="64739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98500" dist="330200" dir="5400000" sx="96000" sy="96000" algn="t" rotWithShape="0">
              <a:srgbClr val="161628">
                <a:alpha val="22000"/>
              </a:srgbClr>
            </a:outerShdw>
          </a:effectLst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Фоновое слово"/>
          <p:cNvSpPr txBox="1"/>
          <p:nvPr/>
        </p:nvSpPr>
        <p:spPr>
          <a:xfrm>
            <a:off x="1170432" y="109728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9000" b="1" cap="all" spc="-380">
                <a:solidFill>
                  <a:srgbClr val="F2F2F4"/>
                </a:solidFill>
                <a:latin typeface="Jost"/>
              </a:rPr>
              <a:t>Грунт</a:t>
            </a:r>
          </a:p>
        </p:txBody>
      </p:sp>
      <p:sp>
        <p:nvSpPr>
          <p:cNvPr id="6" name="Логотип"/>
          <p:cNvSpPr/>
          <p:nvPr/>
        </p:nvSpPr>
        <p:spPr>
          <a:xfrm>
            <a:off x="1371600" y="868680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7" name="Логотип"/>
          <p:cNvSpPr/>
          <p:nvPr/>
        </p:nvSpPr>
        <p:spPr>
          <a:xfrm>
            <a:off x="1495044" y="992124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8" name="Название"/>
          <p:cNvSpPr txBox="1"/>
          <p:nvPr/>
        </p:nvSpPr>
        <p:spPr>
          <a:xfrm>
            <a:off x="1636776" y="8549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9" name="Хакатон"/>
          <p:cNvSpPr txBox="1"/>
          <p:nvPr/>
        </p:nvSpPr>
        <p:spPr>
          <a:xfrm>
            <a:off x="5669280" y="854964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ru-RU" sz="1050" b="0">
                <a:solidFill>
                  <a:srgbClr val="6A6A70"/>
                </a:solidFill>
                <a:latin typeface="IBM Plex Mono"/>
              </a:rPr>
              <a:t>Стартап-хакатон «Пятый элемент» 2026</a:t>
            </a:r>
          </a:p>
        </p:txBody>
      </p:sp>
      <p:cxnSp>
        <p:nvCxnSpPr>
          <p:cNvPr id="10" name="Линия"/>
          <p:cNvCxnSpPr/>
          <p:nvPr/>
        </p:nvCxnSpPr>
        <p:spPr>
          <a:xfrm>
            <a:off x="1371600" y="5760720"/>
            <a:ext cx="9445752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pic>
        <p:nvPicPr>
          <p:cNvPr id="11" name="Партнёры" descr="logos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6053328"/>
            <a:ext cx="5852160" cy="353643"/>
          </a:xfrm>
          <a:prstGeom prst="rect">
            <a:avLst/>
          </a:prstGeom>
        </p:spPr>
      </p:pic>
      <p:sp>
        <p:nvSpPr>
          <p:cNvPr id="12" name="Бейдж"/>
          <p:cNvSpPr/>
          <p:nvPr/>
        </p:nvSpPr>
        <p:spPr>
          <a:xfrm>
            <a:off x="1371600" y="1572768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E03A42"/>
          </a:solidFill>
          <a:ln>
            <a:noFill/>
          </a:ln>
          <a:effectLst>
            <a:outerShdw blurRad="177800" dist="76200" dir="5400000" sx="92000" sy="92000" algn="t" rotWithShape="0">
              <a:srgbClr val="E03A42">
                <a:alpha val="35000"/>
              </a:srgbClr>
            </a:outerShdw>
          </a:effectLst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3" name="Бейдж"/>
          <p:cNvSpPr/>
          <p:nvPr/>
        </p:nvSpPr>
        <p:spPr>
          <a:xfrm>
            <a:off x="1444752" y="1645920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1504188" y="1714500"/>
            <a:ext cx="109728" cy="82296"/>
          </a:xfrm>
          <a:custGeom>
            <a:avLst/>
            <a:gdLst/>
            <a:ahLst/>
            <a:cxnLst/>
            <a:rect l="l" t="t" r="r" b="b"/>
            <a:pathLst>
              <a:path w="109728" h="82296">
                <a:moveTo>
                  <a:pt x="0" y="45720"/>
                </a:moveTo>
                <a:lnTo>
                  <a:pt x="41148" y="82296"/>
                </a:lnTo>
                <a:lnTo>
                  <a:pt x="109728" y="0"/>
                </a:lnTo>
              </a:path>
            </a:pathLst>
          </a:custGeom>
          <a:noFill/>
          <a:ln w="20320">
            <a:solidFill>
              <a:srgbClr val="E03A4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Бейдж"/>
          <p:cNvSpPr txBox="1"/>
          <p:nvPr/>
        </p:nvSpPr>
        <p:spPr>
          <a:xfrm>
            <a:off x="1755648" y="15727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300" b="0">
                <a:solidFill>
                  <a:srgbClr val="FFFFFF"/>
                </a:solidFill>
                <a:latin typeface="Jost Medium"/>
              </a:rPr>
              <a:t>Защита MVP</a:t>
            </a:r>
          </a:p>
        </p:txBody>
      </p:sp>
      <p:sp>
        <p:nvSpPr>
          <p:cNvPr id="16" name="Заголовок"/>
          <p:cNvSpPr txBox="1"/>
          <p:nvPr/>
        </p:nvSpPr>
        <p:spPr>
          <a:xfrm>
            <a:off x="1371600" y="2103120"/>
            <a:ext cx="6766560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5800" b="0" spc="-174">
                <a:solidFill>
                  <a:srgbClr val="161616"/>
                </a:solidFill>
                <a:latin typeface="Jost SemiBold"/>
              </a:rPr>
              <a:t>Помощник</a:t>
            </a:r>
          </a:p>
          <a:p>
            <a:pPr algn="l">
              <a:lnSpc>
                <a:spcPct val="93000"/>
              </a:lnSpc>
            </a:pPr>
            <a:r>
              <a:rPr lang="ru-RU" sz="5800" b="0" spc="-174">
                <a:solidFill>
                  <a:srgbClr val="161616"/>
                </a:solidFill>
                <a:latin typeface="Jost SemiBold"/>
              </a:rPr>
              <a:t>проектировщика</a:t>
            </a:r>
          </a:p>
          <a:p>
            <a:pPr algn="l">
              <a:lnSpc>
                <a:spcPct val="93000"/>
              </a:lnSpc>
            </a:pPr>
            <a:r>
              <a:rPr lang="ru-RU" sz="5800" b="0" spc="-174">
                <a:solidFill>
                  <a:srgbClr val="161616"/>
                </a:solidFill>
                <a:latin typeface="Jost SemiBold"/>
              </a:rPr>
              <a:t>фундамента</a:t>
            </a:r>
            <a:r>
              <a:rPr lang="ru-RU" sz="5800" b="0" spc="-174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sp>
        <p:nvSpPr>
          <p:cNvPr id="17" name="Лид"/>
          <p:cNvSpPr txBox="1"/>
          <p:nvPr/>
        </p:nvSpPr>
        <p:spPr>
          <a:xfrm>
            <a:off x="1371600" y="464515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ru-RU" sz="1200" b="0">
                <a:solidFill>
                  <a:srgbClr val="6A6A70"/>
                </a:solidFill>
                <a:latin typeface="IBM Plex Mono"/>
              </a:rPr>
              <a:t>Подбираем тип фундамента по грунту, зданию и условиям площадки и объясняем выбор. Решение за минуты, а не часы.</a:t>
            </a:r>
          </a:p>
        </p:txBody>
      </p:sp>
      <p:pic>
        <p:nvPicPr>
          <p:cNvPr id="18" name="Сваи" descr="pi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481328"/>
            <a:ext cx="331552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Проблема</a:t>
            </a:r>
          </a:p>
        </p:txBody>
      </p:sp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02 / 11</a:t>
            </a:r>
          </a:p>
        </p:txBody>
      </p:sp>
      <p:sp>
        <p:nvSpPr>
          <p:cNvPr id="8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Фундамент подбирают вручную,</a:t>
            </a:r>
          </a:p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и типовые ошибки дорого стоят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sp>
        <p:nvSpPr>
          <p:cNvPr id="9" name="Число"/>
          <p:cNvSpPr txBox="1"/>
          <p:nvPr/>
        </p:nvSpPr>
        <p:spPr>
          <a:xfrm>
            <a:off x="521208" y="2240280"/>
            <a:ext cx="384048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000" b="0" spc="-800">
                <a:solidFill>
                  <a:srgbClr val="E03A42"/>
                </a:solidFill>
                <a:latin typeface="Jost SemiBold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15968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ru-RU" sz="2000" b="0" spc="-40">
                <a:solidFill>
                  <a:srgbClr val="161616"/>
                </a:solidFill>
                <a:latin typeface="Jost SemiBold"/>
              </a:rPr>
              <a:t>итерации проверки</a:t>
            </a:r>
          </a:p>
          <a:p>
            <a:pPr algn="l">
              <a:lnSpc>
                <a:spcPct val="112000"/>
              </a:lnSpc>
            </a:pPr>
            <a:r>
              <a:rPr lang="ru-RU" sz="1450" b="0">
                <a:solidFill>
                  <a:srgbClr val="3C3C42"/>
                </a:solidFill>
                <a:latin typeface="Jost"/>
              </a:rPr>
              <a:t>столько раз проект возвращается к проектировщику из-за типовых ошибок подбора</a:t>
            </a:r>
          </a:p>
        </p:txBody>
      </p:sp>
      <p:cxnSp>
        <p:nvCxnSpPr>
          <p:cNvPr id="11" name="Линия"/>
          <p:cNvCxnSpPr/>
          <p:nvPr/>
        </p:nvCxnSpPr>
        <p:spPr>
          <a:xfrm>
            <a:off x="4846320" y="2395728"/>
            <a:ext cx="677844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846320" y="257860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50" b="0" spc="-30">
                <a:solidFill>
                  <a:srgbClr val="161616"/>
                </a:solidFill>
                <a:latin typeface="Jost SemiBold"/>
              </a:rPr>
              <a:t>Кто сталкивается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587752"/>
            <a:ext cx="458388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400" b="0">
                <a:solidFill>
                  <a:srgbClr val="3C3C42"/>
                </a:solidFill>
                <a:latin typeface="Jost"/>
              </a:rPr>
              <a:t>Проектировщики и конструкторы проектных компаний, которые готовят раздел фундаментов в ПСД.</a:t>
            </a:r>
          </a:p>
        </p:txBody>
      </p:sp>
      <p:cxnSp>
        <p:nvCxnSpPr>
          <p:cNvPr id="14" name="Линия"/>
          <p:cNvCxnSpPr/>
          <p:nvPr/>
        </p:nvCxnSpPr>
        <p:spPr>
          <a:xfrm>
            <a:off x="4846320" y="3566160"/>
            <a:ext cx="677844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846320" y="3749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50" b="0" spc="-30">
                <a:solidFill>
                  <a:srgbClr val="161616"/>
                </a:solidFill>
                <a:latin typeface="Jost SemiBold"/>
              </a:rPr>
              <a:t>Где ошибаются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58184"/>
            <a:ext cx="458388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lnSpc>
                <a:spcPct val="112000"/>
              </a:lnSpc>
              <a:spcAft>
                <a:spcPts val="200"/>
              </a:spcAft>
              <a:buClr>
                <a:srgbClr val="E03A42"/>
              </a:buClr>
              <a:buFont typeface="Jost SemiBold"/>
              <a:buChar char="−"/>
            </a:pPr>
            <a:r>
              <a:rPr lang="ru-RU" sz="1400" b="0">
                <a:solidFill>
                  <a:srgbClr val="3C3C42"/>
                </a:solidFill>
                <a:latin typeface="Jost"/>
              </a:rPr>
              <a:t>Тип фундамента не подходит под грунт</a:t>
            </a:r>
          </a:p>
          <a:p>
            <a:pPr marL="201168" indent="-201168" algn="l">
              <a:lnSpc>
                <a:spcPct val="112000"/>
              </a:lnSpc>
              <a:spcAft>
                <a:spcPts val="200"/>
              </a:spcAft>
              <a:buClr>
                <a:srgbClr val="E03A42"/>
              </a:buClr>
              <a:buFont typeface="Jost SemiBold"/>
              <a:buChar char="−"/>
            </a:pPr>
            <a:r>
              <a:rPr lang="ru-RU" sz="1400" b="0">
                <a:solidFill>
                  <a:srgbClr val="3C3C42"/>
                </a:solidFill>
                <a:latin typeface="Jost"/>
              </a:rPr>
              <a:t>Стоимость и трудозатраты посчитаны неточно</a:t>
            </a:r>
          </a:p>
          <a:p>
            <a:pPr marL="201168" indent="-201168" algn="l">
              <a:lnSpc>
                <a:spcPct val="112000"/>
              </a:lnSpc>
              <a:buClr>
                <a:srgbClr val="E03A42"/>
              </a:buClr>
              <a:buFont typeface="Jost SemiBold"/>
              <a:buChar char="−"/>
            </a:pPr>
            <a:r>
              <a:rPr lang="ru-RU" sz="1400" b="0">
                <a:solidFill>
                  <a:srgbClr val="3C3C42"/>
                </a:solidFill>
                <a:latin typeface="Jost"/>
              </a:rPr>
              <a:t>Региональные цены на материалы не учтены</a:t>
            </a:r>
          </a:p>
        </p:txBody>
      </p:sp>
      <p:cxnSp>
        <p:nvCxnSpPr>
          <p:cNvPr id="17" name="Линия"/>
          <p:cNvCxnSpPr/>
          <p:nvPr/>
        </p:nvCxnSpPr>
        <p:spPr>
          <a:xfrm>
            <a:off x="4846320" y="4800600"/>
            <a:ext cx="677844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4846320" y="4983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50" b="0" spc="-30">
                <a:solidFill>
                  <a:srgbClr val="161616"/>
                </a:solidFill>
                <a:latin typeface="Jost SemiBold"/>
              </a:rPr>
              <a:t>Чего это стоит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992624"/>
            <a:ext cx="458388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400" b="0" dirty="0">
                <a:solidFill>
                  <a:srgbClr val="3C3C42"/>
                </a:solidFill>
                <a:latin typeface="Jost"/>
              </a:rPr>
              <a:t>Каждая итерация удлиняет согласование и добавляет часы работы инженеров. Материалы в 2025 году подорожали на 8–15%, поэтому ошибка в выборе сразу бьёт по бюджету.</a:t>
            </a:r>
          </a:p>
        </p:txBody>
      </p:sp>
      <p:cxnSp>
        <p:nvCxnSpPr>
          <p:cNvPr id="20" name="Линия"/>
          <p:cNvCxnSpPr/>
          <p:nvPr/>
        </p:nvCxnSpPr>
        <p:spPr>
          <a:xfrm>
            <a:off x="4846320" y="5989320"/>
            <a:ext cx="677844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040880" y="6089904"/>
            <a:ext cx="458388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950" b="0" dirty="0">
                <a:solidFill>
                  <a:srgbClr val="6A6A70"/>
                </a:solidFill>
                <a:latin typeface="IBM Plex Mono"/>
              </a:rPr>
              <a:t>Рост цен: Росстат, Минстрой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Рынок</a:t>
            </a:r>
          </a:p>
        </p:txBody>
      </p:sp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03 / 11</a:t>
            </a:r>
          </a:p>
        </p:txBody>
      </p:sp>
      <p:sp>
        <p:nvSpPr>
          <p:cNvPr id="8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САПР считают фундамент,</a:t>
            </a:r>
          </a:p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но не выбирают его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sp>
        <p:nvSpPr>
          <p:cNvPr id="9" name="Шапка таблицы"/>
          <p:cNvSpPr/>
          <p:nvPr/>
        </p:nvSpPr>
        <p:spPr>
          <a:xfrm>
            <a:off x="566928" y="2359152"/>
            <a:ext cx="6684264" cy="329184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35915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950" b="0" cap="all" spc="80">
                <a:solidFill>
                  <a:srgbClr val="FFFFFF"/>
                </a:solidFill>
                <a:latin typeface="Jost Medium"/>
              </a:rPr>
              <a:t>Продукт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359152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950" b="0" cap="all" spc="80">
                <a:solidFill>
                  <a:srgbClr val="FFFFFF"/>
                </a:solidFill>
                <a:latin typeface="Jost Medium"/>
              </a:rPr>
              <a:t>Что умеет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2359152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950" b="0" cap="all" spc="80">
                <a:solidFill>
                  <a:srgbClr val="FFFFFF"/>
                </a:solidFill>
                <a:latin typeface="Jost Medium"/>
              </a:rPr>
              <a:t>Чего не хватает</a:t>
            </a:r>
          </a:p>
        </p:txBody>
      </p:sp>
      <p:sp>
        <p:nvSpPr>
          <p:cNvPr id="13" name="Строка"/>
          <p:cNvSpPr/>
          <p:nvPr/>
        </p:nvSpPr>
        <p:spPr>
          <a:xfrm>
            <a:off x="566928" y="2770632"/>
            <a:ext cx="6684264" cy="676656"/>
          </a:xfrm>
          <a:prstGeom prst="roundRect">
            <a:avLst>
              <a:gd name="adj" fmla="val 16216"/>
            </a:avLst>
          </a:prstGeom>
          <a:solidFill>
            <a:srgbClr val="F6F6F8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770632"/>
            <a:ext cx="15819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350" b="0">
                <a:solidFill>
                  <a:srgbClr val="161616"/>
                </a:solidFill>
                <a:latin typeface="Jost SemiBold"/>
              </a:rPr>
              <a:t>ЛИРА-САПР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32888" y="2889504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2752344" y="2770632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3C3C42"/>
                </a:solidFill>
                <a:latin typeface="Jost"/>
              </a:rPr>
              <a:t>Расчёт конструкций и работа с грунтами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2889504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111496" y="2770632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3C3C42"/>
                </a:solidFill>
                <a:latin typeface="Jost"/>
              </a:rPr>
              <a:t>Выбор типа фундамента со сравнением по стоимости</a:t>
            </a:r>
          </a:p>
        </p:txBody>
      </p:sp>
      <p:sp>
        <p:nvSpPr>
          <p:cNvPr id="19" name="Строка"/>
          <p:cNvSpPr/>
          <p:nvPr/>
        </p:nvSpPr>
        <p:spPr>
          <a:xfrm>
            <a:off x="566928" y="3520440"/>
            <a:ext cx="6684264" cy="676656"/>
          </a:xfrm>
          <a:prstGeom prst="roundRect">
            <a:avLst>
              <a:gd name="adj" fmla="val 16216"/>
            </a:avLst>
          </a:prstGeom>
          <a:solidFill>
            <a:srgbClr val="EEEEF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520440"/>
            <a:ext cx="15819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350" b="0">
                <a:solidFill>
                  <a:srgbClr val="161616"/>
                </a:solidFill>
                <a:latin typeface="Jost SemiBold"/>
              </a:rPr>
              <a:t>SCAD Office, «ЗАПРОС»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32888" y="3639312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2752344" y="3520440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3C3C42"/>
                </a:solidFill>
                <a:latin typeface="Jost"/>
              </a:rPr>
              <a:t>Расчёт и проверка оснований и фундаментов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2040" y="3639312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111496" y="3520440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3C3C42"/>
                </a:solidFill>
                <a:latin typeface="Jost"/>
              </a:rPr>
              <a:t>Сравнение типов и технико-экономическое обоснование</a:t>
            </a:r>
          </a:p>
        </p:txBody>
      </p:sp>
      <p:sp>
        <p:nvSpPr>
          <p:cNvPr id="25" name="Строка"/>
          <p:cNvSpPr/>
          <p:nvPr/>
        </p:nvSpPr>
        <p:spPr>
          <a:xfrm>
            <a:off x="566928" y="4270248"/>
            <a:ext cx="6684264" cy="676656"/>
          </a:xfrm>
          <a:prstGeom prst="roundRect">
            <a:avLst>
              <a:gd name="adj" fmla="val 16216"/>
            </a:avLst>
          </a:prstGeom>
          <a:solidFill>
            <a:srgbClr val="F6F6F8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4270248"/>
            <a:ext cx="15819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350" b="0">
                <a:solidFill>
                  <a:srgbClr val="161616"/>
                </a:solidFill>
                <a:latin typeface="Jost SemiBold"/>
              </a:rPr>
              <a:t>nanoCAD Конструкции 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32888" y="4389120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2752344" y="4270248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3C3C42"/>
                </a:solidFill>
                <a:latin typeface="Jost"/>
              </a:rPr>
              <a:t>Модуль «Фундаменты»: схемы и чертежи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92040" y="4389120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111496" y="4270248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3C3C42"/>
                </a:solidFill>
                <a:latin typeface="Jost"/>
              </a:rPr>
              <a:t>Сравнение плиты, ленты, свай и столбов по стоимости</a:t>
            </a:r>
          </a:p>
        </p:txBody>
      </p:sp>
      <p:sp>
        <p:nvSpPr>
          <p:cNvPr id="31" name="Строка: наш продукт"/>
          <p:cNvSpPr/>
          <p:nvPr/>
        </p:nvSpPr>
        <p:spPr>
          <a:xfrm>
            <a:off x="566928" y="5074920"/>
            <a:ext cx="6684264" cy="676656"/>
          </a:xfrm>
          <a:prstGeom prst="roundRect">
            <a:avLst>
              <a:gd name="adj" fmla="val 16216"/>
            </a:avLst>
          </a:prstGeom>
          <a:solidFill>
            <a:srgbClr val="FFF3F3"/>
          </a:solidFill>
          <a:ln w="15875">
            <a:solidFill>
              <a:srgbClr val="E03A42"/>
            </a:solidFill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5074920"/>
            <a:ext cx="15819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350" b="0">
                <a:solidFill>
                  <a:srgbClr val="E03A42"/>
                </a:solidFill>
                <a:latin typeface="Jost SemiBold"/>
              </a:rPr>
              <a:t>Наш помощник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32888" y="5193792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2752344" y="5074920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161616"/>
                </a:solidFill>
                <a:latin typeface="Jost"/>
              </a:rPr>
              <a:t>Сравнивает 4 типа и объясняет выбор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892040" y="5193792"/>
            <a:ext cx="0" cy="438912"/>
          </a:xfrm>
          <a:prstGeom prst="line">
            <a:avLst/>
          </a:prstGeom>
          <a:ln w="9525">
            <a:solidFill>
              <a:srgbClr val="D9D9DF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5111496" y="5074920"/>
            <a:ext cx="19751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200" b="0">
                <a:solidFill>
                  <a:srgbClr val="161616"/>
                </a:solidFill>
                <a:latin typeface="Jost"/>
              </a:rPr>
              <a:t>Работает до расчёта в САПР и дополняет его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897880"/>
            <a:ext cx="668426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950" b="0">
                <a:solidFill>
                  <a:srgbClr val="6A6A70"/>
                </a:solidFill>
                <a:latin typeface="IBM Plex Mono"/>
              </a:rPr>
              <a:t>По открытым описаниям продуктов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340864"/>
            <a:ext cx="385236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50" b="0" spc="-30">
                <a:solidFill>
                  <a:srgbClr val="161616"/>
                </a:solidFill>
                <a:latin typeface="Jost SemiBold"/>
              </a:rPr>
              <a:t>Спрос есть, ниша свободна</a:t>
            </a:r>
          </a:p>
        </p:txBody>
      </p:sp>
      <p:cxnSp>
        <p:nvCxnSpPr>
          <p:cNvPr id="39" name="Линия"/>
          <p:cNvCxnSpPr/>
          <p:nvPr/>
        </p:nvCxnSpPr>
        <p:spPr>
          <a:xfrm>
            <a:off x="7772400" y="2816352"/>
            <a:ext cx="385236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7772400" y="2926080"/>
            <a:ext cx="385236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3000" b="0" spc="-90">
                <a:solidFill>
                  <a:srgbClr val="E03A42"/>
                </a:solidFill>
                <a:latin typeface="Jost SemiBold"/>
              </a:rPr>
              <a:t>8–15%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438144"/>
            <a:ext cx="3852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3C3C42"/>
                </a:solidFill>
                <a:latin typeface="Jost"/>
              </a:rPr>
              <a:t>рост цен на стройматериалы в 2025 году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712464"/>
            <a:ext cx="38523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900" b="0">
                <a:solidFill>
                  <a:srgbClr val="6A6A70"/>
                </a:solidFill>
                <a:latin typeface="IBM Plex Mono"/>
              </a:rPr>
              <a:t>Росстат, Минстрой</a:t>
            </a:r>
          </a:p>
        </p:txBody>
      </p:sp>
      <p:cxnSp>
        <p:nvCxnSpPr>
          <p:cNvPr id="43" name="Линия"/>
          <p:cNvCxnSpPr/>
          <p:nvPr/>
        </p:nvCxnSpPr>
        <p:spPr>
          <a:xfrm>
            <a:off x="7772400" y="3977640"/>
            <a:ext cx="385236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7772400" y="4087368"/>
            <a:ext cx="385236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3000" b="0" spc="-90">
                <a:solidFill>
                  <a:srgbClr val="161616"/>
                </a:solidFill>
                <a:latin typeface="Jost SemiBold"/>
              </a:rPr>
              <a:t>53 из 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599432"/>
            <a:ext cx="3852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3C3C42"/>
                </a:solidFill>
                <a:latin typeface="Jost"/>
              </a:rPr>
              <a:t>недель с интересом к запросу «цена фундамента»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873752"/>
            <a:ext cx="38523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900" b="0">
                <a:solidFill>
                  <a:srgbClr val="6A6A70"/>
                </a:solidFill>
                <a:latin typeface="IBM Plex Mono"/>
              </a:rPr>
              <a:t>Google Trends, 12 месяцев</a:t>
            </a:r>
          </a:p>
        </p:txBody>
      </p:sp>
      <p:cxnSp>
        <p:nvCxnSpPr>
          <p:cNvPr id="47" name="Линия"/>
          <p:cNvCxnSpPr/>
          <p:nvPr/>
        </p:nvCxnSpPr>
        <p:spPr>
          <a:xfrm>
            <a:off x="7772400" y="5138928"/>
            <a:ext cx="385236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7772400" y="5248656"/>
            <a:ext cx="385236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3000" b="0" spc="-90">
                <a:solidFill>
                  <a:srgbClr val="161616"/>
                </a:solidFill>
                <a:latin typeface="Jost SemiBold"/>
              </a:rPr>
              <a:t>3 из 53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5760720"/>
            <a:ext cx="3852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3C3C42"/>
                </a:solidFill>
                <a:latin typeface="Jost"/>
              </a:rPr>
              <a:t>недель с запросами «ИИ в строительстве»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6035040"/>
            <a:ext cx="38523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900" b="0">
                <a:solidFill>
                  <a:srgbClr val="6A6A70"/>
                </a:solidFill>
                <a:latin typeface="IBM Plex Mono"/>
              </a:rPr>
              <a:t>Google Trends, 12 месяцев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Решение</a:t>
            </a:r>
          </a:p>
        </p:txBody>
      </p:sp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04 / 11</a:t>
            </a:r>
          </a:p>
        </p:txBody>
      </p:sp>
      <p:sp>
        <p:nvSpPr>
          <p:cNvPr id="8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Данные площадки на входе,</a:t>
            </a:r>
          </a:p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обоснованный фундамент на выходе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cxnSp>
        <p:nvCxnSpPr>
          <p:cNvPr id="9" name="Линия"/>
          <p:cNvCxnSpPr/>
          <p:nvPr/>
        </p:nvCxnSpPr>
        <p:spPr>
          <a:xfrm>
            <a:off x="566928" y="2395728"/>
            <a:ext cx="5257800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0" name="Шаг 1"/>
          <p:cNvSpPr txBox="1"/>
          <p:nvPr/>
        </p:nvSpPr>
        <p:spPr>
          <a:xfrm>
            <a:off x="566928" y="2578608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900" b="0" spc="-38">
                <a:solidFill>
                  <a:srgbClr val="E03A42"/>
                </a:solidFill>
                <a:latin typeface="Jost SemiBold"/>
              </a:rPr>
              <a:t>1.</a:t>
            </a:r>
            <a:r>
              <a:rPr lang="ru-RU" sz="1900" b="0" spc="-38">
                <a:solidFill>
                  <a:srgbClr val="161616"/>
                </a:solidFill>
                <a:latin typeface="Jost SemiBold"/>
              </a:rPr>
              <a:t> Ввод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99232"/>
            <a:ext cx="5166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350" b="0">
                <a:solidFill>
                  <a:srgbClr val="3C3C42"/>
                </a:solidFill>
                <a:latin typeface="Jost"/>
              </a:rPr>
              <a:t>9 параметров: грунт, несущая способность, грунтовые воды, этажность, площадь, материал стен, климат, промерзание, сейсмичность.</a:t>
            </a:r>
          </a:p>
        </p:txBody>
      </p:sp>
      <p:cxnSp>
        <p:nvCxnSpPr>
          <p:cNvPr id="12" name="Линия"/>
          <p:cNvCxnSpPr/>
          <p:nvPr/>
        </p:nvCxnSpPr>
        <p:spPr>
          <a:xfrm>
            <a:off x="566928" y="3767328"/>
            <a:ext cx="5257800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3" name="Шаг 2"/>
          <p:cNvSpPr txBox="1"/>
          <p:nvPr/>
        </p:nvSpPr>
        <p:spPr>
          <a:xfrm>
            <a:off x="566928" y="3950208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900" b="0" spc="-38">
                <a:solidFill>
                  <a:srgbClr val="E03A42"/>
                </a:solidFill>
                <a:latin typeface="Jost SemiBold"/>
              </a:rPr>
              <a:t>2.</a:t>
            </a:r>
            <a:r>
              <a:rPr lang="ru-RU" sz="1900" b="0" spc="-38">
                <a:solidFill>
                  <a:srgbClr val="161616"/>
                </a:solidFill>
                <a:latin typeface="Jost SemiBold"/>
              </a:rPr>
              <a:t> Оценка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70832"/>
            <a:ext cx="5166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350" b="0">
                <a:solidFill>
                  <a:srgbClr val="3C3C42"/>
                </a:solidFill>
                <a:latin typeface="Jost"/>
              </a:rPr>
              <a:t>Модель Jev ставит каждому из 4 типов процент пригодности от 0 до 100 по правилам справочника.</a:t>
            </a:r>
          </a:p>
        </p:txBody>
      </p:sp>
      <p:cxnSp>
        <p:nvCxnSpPr>
          <p:cNvPr id="15" name="Линия"/>
          <p:cNvCxnSpPr/>
          <p:nvPr/>
        </p:nvCxnSpPr>
        <p:spPr>
          <a:xfrm>
            <a:off x="566928" y="5001768"/>
            <a:ext cx="5257800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6" name="Шаг 3"/>
          <p:cNvSpPr txBox="1"/>
          <p:nvPr/>
        </p:nvSpPr>
        <p:spPr>
          <a:xfrm>
            <a:off x="566928" y="5184648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900" b="0" spc="-38">
                <a:solidFill>
                  <a:srgbClr val="E03A42"/>
                </a:solidFill>
                <a:latin typeface="Jost SemiBold"/>
              </a:rPr>
              <a:t>3.</a:t>
            </a:r>
            <a:r>
              <a:rPr lang="ru-RU" sz="1900" b="0" spc="-38">
                <a:solidFill>
                  <a:srgbClr val="161616"/>
                </a:solidFill>
                <a:latin typeface="Jost SemiBold"/>
              </a:rPr>
              <a:t> 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05272"/>
            <a:ext cx="5166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350" b="0">
                <a:solidFill>
                  <a:srgbClr val="3C3C42"/>
                </a:solidFill>
                <a:latin typeface="Jost"/>
              </a:rPr>
              <a:t>Рекомендация и 2 альтернативы, плюсы и минусы, отчёт для инженера в PDF.</a:t>
            </a:r>
          </a:p>
        </p:txBody>
      </p:sp>
      <p:pic>
        <p:nvPicPr>
          <p:cNvPr id="18" name="Иконка frost_depth" descr="icon_frost_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752" y="2596896"/>
            <a:ext cx="363976" cy="310896"/>
          </a:xfrm>
          <a:prstGeom prst="rect">
            <a:avLst/>
          </a:prstGeom>
        </p:spPr>
      </p:pic>
      <p:pic>
        <p:nvPicPr>
          <p:cNvPr id="19" name="Иконка climate" descr="icon_cli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890" y="2596896"/>
            <a:ext cx="371559" cy="310896"/>
          </a:xfrm>
          <a:prstGeom prst="rect">
            <a:avLst/>
          </a:prstGeom>
        </p:spPr>
      </p:pic>
      <p:pic>
        <p:nvPicPr>
          <p:cNvPr id="20" name="Иконка wall_material" descr="icon_wall_mater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610" y="2596896"/>
            <a:ext cx="363976" cy="310896"/>
          </a:xfrm>
          <a:prstGeom prst="rect">
            <a:avLst/>
          </a:prstGeom>
        </p:spPr>
      </p:pic>
      <p:pic>
        <p:nvPicPr>
          <p:cNvPr id="21" name="Иконка groundwater_level" descr="icon_groundwater_lev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47" y="2596896"/>
            <a:ext cx="371559" cy="310896"/>
          </a:xfrm>
          <a:prstGeom prst="rect">
            <a:avLst/>
          </a:prstGeom>
        </p:spPr>
      </p:pic>
      <p:pic>
        <p:nvPicPr>
          <p:cNvPr id="22" name="Иконка bearing_capacity" descr="icon_bearing_capac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6884" y="2596896"/>
            <a:ext cx="371559" cy="310896"/>
          </a:xfrm>
          <a:prstGeom prst="rect">
            <a:avLst/>
          </a:prstGeom>
        </p:spPr>
      </p:pic>
      <p:pic>
        <p:nvPicPr>
          <p:cNvPr id="23" name="Иконка soil_type" descr="icon_soil_ty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9684" y="2596896"/>
            <a:ext cx="310896" cy="310896"/>
          </a:xfrm>
          <a:prstGeom prst="rect">
            <a:avLst/>
          </a:prstGeom>
        </p:spPr>
      </p:pic>
      <p:pic>
        <p:nvPicPr>
          <p:cNvPr id="24" name="Сцена" descr="stage_typ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2395728"/>
            <a:ext cx="5269687" cy="3840480"/>
          </a:xfrm>
          <a:prstGeom prst="rect">
            <a:avLst/>
          </a:prstGeom>
          <a:ln w="9525">
            <a:solidFill>
              <a:srgbClr val="E2E2E6"/>
            </a:solidFill>
          </a:ln>
        </p:spPr>
      </p:pic>
      <p:sp>
        <p:nvSpPr>
          <p:cNvPr id="25" name="Тень"/>
          <p:cNvSpPr/>
          <p:nvPr/>
        </p:nvSpPr>
        <p:spPr>
          <a:xfrm>
            <a:off x="7096430" y="3749040"/>
            <a:ext cx="1152144" cy="182880"/>
          </a:xfrm>
          <a:prstGeom prst="ellipse">
            <a:avLst/>
          </a:prstGeom>
          <a:gradFill rotWithShape="1">
            <a:gsLst>
              <a:gs pos="0">
                <a:srgbClr val="161628">
                  <a:alpha val="20000"/>
                </a:srgbClr>
              </a:gs>
              <a:gs pos="100000">
                <a:srgbClr val="16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grpSp>
        <p:nvGrpSpPr>
          <p:cNvPr id="26" name="Фундамент: Ленточный"/>
          <p:cNvGrpSpPr/>
          <p:nvPr/>
        </p:nvGrpSpPr>
        <p:grpSpPr>
          <a:xfrm>
            <a:off x="6986702" y="2835554"/>
            <a:ext cx="1371600" cy="977494"/>
            <a:chOff x="6986702" y="2835554"/>
            <a:chExt cx="1371600" cy="977494"/>
          </a:xfrm>
        </p:grpSpPr>
        <p:sp>
          <p:nvSpPr>
            <p:cNvPr id="27" name="Freeform 26"/>
            <p:cNvSpPr/>
            <p:nvPr/>
          </p:nvSpPr>
          <p:spPr>
            <a:xfrm>
              <a:off x="7576061" y="2891234"/>
              <a:ext cx="685800" cy="581547"/>
            </a:xfrm>
            <a:custGeom>
              <a:avLst/>
              <a:gdLst/>
              <a:ahLst/>
              <a:cxnLst/>
              <a:rect l="l" t="t" r="r" b="b"/>
              <a:pathLst>
                <a:path w="685800" h="581547">
                  <a:moveTo>
                    <a:pt x="0" y="185600"/>
                  </a:moveTo>
                  <a:lnTo>
                    <a:pt x="685800" y="581547"/>
                  </a:lnTo>
                  <a:lnTo>
                    <a:pt x="685800" y="395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Freeform 27"/>
            <p:cNvSpPr/>
            <p:nvPr/>
          </p:nvSpPr>
          <p:spPr>
            <a:xfrm>
              <a:off x="8261861" y="3231501"/>
              <a:ext cx="96441" cy="241280"/>
            </a:xfrm>
            <a:custGeom>
              <a:avLst/>
              <a:gdLst/>
              <a:ahLst/>
              <a:cxnLst/>
              <a:rect l="l" t="t" r="r" b="b"/>
              <a:pathLst>
                <a:path w="96441" h="241280">
                  <a:moveTo>
                    <a:pt x="96441" y="185600"/>
                  </a:moveTo>
                  <a:lnTo>
                    <a:pt x="0" y="241280"/>
                  </a:lnTo>
                  <a:lnTo>
                    <a:pt x="0" y="55680"/>
                  </a:lnTo>
                  <a:lnTo>
                    <a:pt x="96441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Freeform 28"/>
            <p:cNvSpPr/>
            <p:nvPr/>
          </p:nvSpPr>
          <p:spPr>
            <a:xfrm>
              <a:off x="7576061" y="2835554"/>
              <a:ext cx="782241" cy="451627"/>
            </a:xfrm>
            <a:custGeom>
              <a:avLst/>
              <a:gdLst/>
              <a:ahLst/>
              <a:cxnLst/>
              <a:rect l="l" t="t" r="r" b="b"/>
              <a:pathLst>
                <a:path w="782241" h="451627">
                  <a:moveTo>
                    <a:pt x="96441" y="0"/>
                  </a:moveTo>
                  <a:lnTo>
                    <a:pt x="782241" y="395947"/>
                  </a:lnTo>
                  <a:lnTo>
                    <a:pt x="685800" y="451627"/>
                  </a:lnTo>
                  <a:lnTo>
                    <a:pt x="0" y="55680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Freeform 29"/>
            <p:cNvSpPr/>
            <p:nvPr/>
          </p:nvSpPr>
          <p:spPr>
            <a:xfrm>
              <a:off x="7083142" y="3175821"/>
              <a:ext cx="96441" cy="241280"/>
            </a:xfrm>
            <a:custGeom>
              <a:avLst/>
              <a:gdLst/>
              <a:ahLst/>
              <a:cxnLst/>
              <a:rect l="l" t="t" r="r" b="b"/>
              <a:pathLst>
                <a:path w="96441" h="241280">
                  <a:moveTo>
                    <a:pt x="0" y="185600"/>
                  </a:moveTo>
                  <a:lnTo>
                    <a:pt x="96441" y="241280"/>
                  </a:lnTo>
                  <a:lnTo>
                    <a:pt x="96441" y="55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179583" y="2946914"/>
              <a:ext cx="492919" cy="470187"/>
            </a:xfrm>
            <a:custGeom>
              <a:avLst/>
              <a:gdLst/>
              <a:ahLst/>
              <a:cxnLst/>
              <a:rect l="l" t="t" r="r" b="b"/>
              <a:pathLst>
                <a:path w="492919" h="470187">
                  <a:moveTo>
                    <a:pt x="492919" y="185600"/>
                  </a:moveTo>
                  <a:lnTo>
                    <a:pt x="0" y="470187"/>
                  </a:lnTo>
                  <a:lnTo>
                    <a:pt x="0" y="284587"/>
                  </a:lnTo>
                  <a:lnTo>
                    <a:pt x="492919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Freeform 31"/>
            <p:cNvSpPr/>
            <p:nvPr/>
          </p:nvSpPr>
          <p:spPr>
            <a:xfrm>
              <a:off x="7083142" y="2891234"/>
              <a:ext cx="589360" cy="340267"/>
            </a:xfrm>
            <a:custGeom>
              <a:avLst/>
              <a:gdLst/>
              <a:ahLst/>
              <a:cxnLst/>
              <a:rect l="l" t="t" r="r" b="b"/>
              <a:pathLst>
                <a:path w="589360" h="340267">
                  <a:moveTo>
                    <a:pt x="492919" y="0"/>
                  </a:moveTo>
                  <a:lnTo>
                    <a:pt x="589360" y="55680"/>
                  </a:lnTo>
                  <a:lnTo>
                    <a:pt x="96441" y="340267"/>
                  </a:lnTo>
                  <a:lnTo>
                    <a:pt x="0" y="284587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672502" y="3516088"/>
              <a:ext cx="96440" cy="241280"/>
            </a:xfrm>
            <a:custGeom>
              <a:avLst/>
              <a:gdLst/>
              <a:ahLst/>
              <a:cxnLst/>
              <a:rect l="l" t="t" r="r" b="b"/>
              <a:pathLst>
                <a:path w="96440" h="241280">
                  <a:moveTo>
                    <a:pt x="0" y="185600"/>
                  </a:moveTo>
                  <a:lnTo>
                    <a:pt x="96440" y="241280"/>
                  </a:lnTo>
                  <a:lnTo>
                    <a:pt x="96440" y="55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Freeform 33"/>
            <p:cNvSpPr/>
            <p:nvPr/>
          </p:nvSpPr>
          <p:spPr>
            <a:xfrm>
              <a:off x="7768942" y="3287181"/>
              <a:ext cx="492919" cy="470187"/>
            </a:xfrm>
            <a:custGeom>
              <a:avLst/>
              <a:gdLst/>
              <a:ahLst/>
              <a:cxnLst/>
              <a:rect l="l" t="t" r="r" b="b"/>
              <a:pathLst>
                <a:path w="492919" h="470187">
                  <a:moveTo>
                    <a:pt x="492919" y="185600"/>
                  </a:moveTo>
                  <a:lnTo>
                    <a:pt x="0" y="470187"/>
                  </a:lnTo>
                  <a:lnTo>
                    <a:pt x="0" y="284587"/>
                  </a:lnTo>
                  <a:lnTo>
                    <a:pt x="492919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Freeform 34"/>
            <p:cNvSpPr/>
            <p:nvPr/>
          </p:nvSpPr>
          <p:spPr>
            <a:xfrm>
              <a:off x="7672502" y="3231501"/>
              <a:ext cx="589359" cy="340267"/>
            </a:xfrm>
            <a:custGeom>
              <a:avLst/>
              <a:gdLst/>
              <a:ahLst/>
              <a:cxnLst/>
              <a:rect l="l" t="t" r="r" b="b"/>
              <a:pathLst>
                <a:path w="589359" h="340267">
                  <a:moveTo>
                    <a:pt x="492919" y="0"/>
                  </a:moveTo>
                  <a:lnTo>
                    <a:pt x="589359" y="55680"/>
                  </a:lnTo>
                  <a:lnTo>
                    <a:pt x="96440" y="340267"/>
                  </a:lnTo>
                  <a:lnTo>
                    <a:pt x="0" y="284587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986702" y="3231501"/>
              <a:ext cx="685800" cy="581547"/>
            </a:xfrm>
            <a:custGeom>
              <a:avLst/>
              <a:gdLst/>
              <a:ahLst/>
              <a:cxnLst/>
              <a:rect l="l" t="t" r="r" b="b"/>
              <a:pathLst>
                <a:path w="685800" h="581547">
                  <a:moveTo>
                    <a:pt x="0" y="185600"/>
                  </a:moveTo>
                  <a:lnTo>
                    <a:pt x="685800" y="581547"/>
                  </a:lnTo>
                  <a:lnTo>
                    <a:pt x="685800" y="395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Freeform 36"/>
            <p:cNvSpPr/>
            <p:nvPr/>
          </p:nvSpPr>
          <p:spPr>
            <a:xfrm>
              <a:off x="7672502" y="3571768"/>
              <a:ext cx="96440" cy="241280"/>
            </a:xfrm>
            <a:custGeom>
              <a:avLst/>
              <a:gdLst/>
              <a:ahLst/>
              <a:cxnLst/>
              <a:rect l="l" t="t" r="r" b="b"/>
              <a:pathLst>
                <a:path w="96440" h="241280">
                  <a:moveTo>
                    <a:pt x="96440" y="185600"/>
                  </a:moveTo>
                  <a:lnTo>
                    <a:pt x="0" y="241280"/>
                  </a:lnTo>
                  <a:lnTo>
                    <a:pt x="0" y="55680"/>
                  </a:lnTo>
                  <a:lnTo>
                    <a:pt x="96440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986702" y="3175821"/>
              <a:ext cx="782240" cy="451627"/>
            </a:xfrm>
            <a:custGeom>
              <a:avLst/>
              <a:gdLst/>
              <a:ahLst/>
              <a:cxnLst/>
              <a:rect l="l" t="t" r="r" b="b"/>
              <a:pathLst>
                <a:path w="782240" h="451627">
                  <a:moveTo>
                    <a:pt x="96440" y="0"/>
                  </a:moveTo>
                  <a:lnTo>
                    <a:pt x="782240" y="395947"/>
                  </a:lnTo>
                  <a:lnTo>
                    <a:pt x="685800" y="451627"/>
                  </a:lnTo>
                  <a:lnTo>
                    <a:pt x="0" y="55680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355080" y="3986784"/>
            <a:ext cx="263484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ru-RU" sz="1300" b="0">
                <a:solidFill>
                  <a:srgbClr val="161616"/>
                </a:solidFill>
                <a:latin typeface="Jost Medium"/>
              </a:rPr>
              <a:t>Ленточный</a:t>
            </a:r>
          </a:p>
        </p:txBody>
      </p:sp>
      <p:sp>
        <p:nvSpPr>
          <p:cNvPr id="40" name="Тень"/>
          <p:cNvSpPr/>
          <p:nvPr/>
        </p:nvSpPr>
        <p:spPr>
          <a:xfrm>
            <a:off x="9731273" y="3749040"/>
            <a:ext cx="1152144" cy="182880"/>
          </a:xfrm>
          <a:prstGeom prst="ellipse">
            <a:avLst/>
          </a:prstGeom>
          <a:gradFill rotWithShape="1">
            <a:gsLst>
              <a:gs pos="0">
                <a:srgbClr val="161628">
                  <a:alpha val="20000"/>
                </a:srgbClr>
              </a:gs>
              <a:gs pos="100000">
                <a:srgbClr val="16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grpSp>
        <p:nvGrpSpPr>
          <p:cNvPr id="41" name="Фундамент: Плитный"/>
          <p:cNvGrpSpPr/>
          <p:nvPr/>
        </p:nvGrpSpPr>
        <p:grpSpPr>
          <a:xfrm>
            <a:off x="9621545" y="2909794"/>
            <a:ext cx="1371600" cy="903254"/>
            <a:chOff x="9621545" y="2909794"/>
            <a:chExt cx="1371600" cy="903254"/>
          </a:xfrm>
        </p:grpSpPr>
        <p:sp>
          <p:nvSpPr>
            <p:cNvPr id="42" name="Freeform 41"/>
            <p:cNvSpPr/>
            <p:nvPr/>
          </p:nvSpPr>
          <p:spPr>
            <a:xfrm>
              <a:off x="9621545" y="3305741"/>
              <a:ext cx="685800" cy="507307"/>
            </a:xfrm>
            <a:custGeom>
              <a:avLst/>
              <a:gdLst/>
              <a:ahLst/>
              <a:cxnLst/>
              <a:rect l="l" t="t" r="r" b="b"/>
              <a:pathLst>
                <a:path w="685800" h="507307">
                  <a:moveTo>
                    <a:pt x="0" y="111360"/>
                  </a:moveTo>
                  <a:lnTo>
                    <a:pt x="685800" y="507307"/>
                  </a:lnTo>
                  <a:lnTo>
                    <a:pt x="685800" y="395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0307345" y="3305741"/>
              <a:ext cx="685800" cy="507307"/>
            </a:xfrm>
            <a:custGeom>
              <a:avLst/>
              <a:gdLst/>
              <a:ahLst/>
              <a:cxnLst/>
              <a:rect l="l" t="t" r="r" b="b"/>
              <a:pathLst>
                <a:path w="685800" h="507307">
                  <a:moveTo>
                    <a:pt x="685800" y="111360"/>
                  </a:moveTo>
                  <a:lnTo>
                    <a:pt x="0" y="507307"/>
                  </a:lnTo>
                  <a:lnTo>
                    <a:pt x="0" y="395947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Freeform 43"/>
            <p:cNvSpPr/>
            <p:nvPr/>
          </p:nvSpPr>
          <p:spPr>
            <a:xfrm>
              <a:off x="9621545" y="2909794"/>
              <a:ext cx="1371600" cy="791894"/>
            </a:xfrm>
            <a:custGeom>
              <a:avLst/>
              <a:gdLst/>
              <a:ahLst/>
              <a:cxnLst/>
              <a:rect l="l" t="t" r="r" b="b"/>
              <a:pathLst>
                <a:path w="1371600" h="791894">
                  <a:moveTo>
                    <a:pt x="685800" y="0"/>
                  </a:moveTo>
                  <a:lnTo>
                    <a:pt x="1371600" y="395947"/>
                  </a:lnTo>
                  <a:lnTo>
                    <a:pt x="685800" y="791894"/>
                  </a:lnTo>
                  <a:lnTo>
                    <a:pt x="0" y="395947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8989924" y="3986784"/>
            <a:ext cx="263484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ru-RU" sz="1300" b="0">
                <a:solidFill>
                  <a:srgbClr val="161616"/>
                </a:solidFill>
                <a:latin typeface="Jost Medium"/>
              </a:rPr>
              <a:t>Плитный</a:t>
            </a:r>
          </a:p>
        </p:txBody>
      </p:sp>
      <p:sp>
        <p:nvSpPr>
          <p:cNvPr id="46" name="Тень"/>
          <p:cNvSpPr/>
          <p:nvPr/>
        </p:nvSpPr>
        <p:spPr>
          <a:xfrm>
            <a:off x="7096430" y="5669280"/>
            <a:ext cx="1152144" cy="182880"/>
          </a:xfrm>
          <a:prstGeom prst="ellipse">
            <a:avLst/>
          </a:prstGeom>
          <a:gradFill rotWithShape="1">
            <a:gsLst>
              <a:gs pos="0">
                <a:srgbClr val="161628">
                  <a:alpha val="20000"/>
                </a:srgbClr>
              </a:gs>
              <a:gs pos="100000">
                <a:srgbClr val="16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grpSp>
        <p:nvGrpSpPr>
          <p:cNvPr id="47" name="Фундамент: Свайный"/>
          <p:cNvGrpSpPr/>
          <p:nvPr/>
        </p:nvGrpSpPr>
        <p:grpSpPr>
          <a:xfrm>
            <a:off x="6986702" y="4557821"/>
            <a:ext cx="1371600" cy="1175467"/>
            <a:chOff x="6986702" y="4557821"/>
            <a:chExt cx="1371600" cy="1175467"/>
          </a:xfrm>
        </p:grpSpPr>
        <p:sp>
          <p:nvSpPr>
            <p:cNvPr id="48" name="Freeform 47"/>
            <p:cNvSpPr/>
            <p:nvPr/>
          </p:nvSpPr>
          <p:spPr>
            <a:xfrm>
              <a:off x="7618924" y="472486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3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672502" y="472486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3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Freeform 49"/>
            <p:cNvSpPr/>
            <p:nvPr/>
          </p:nvSpPr>
          <p:spPr>
            <a:xfrm>
              <a:off x="7618924" y="469392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Freeform 50"/>
            <p:cNvSpPr/>
            <p:nvPr/>
          </p:nvSpPr>
          <p:spPr>
            <a:xfrm>
              <a:off x="7892172" y="488262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3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Freeform 51"/>
            <p:cNvSpPr/>
            <p:nvPr/>
          </p:nvSpPr>
          <p:spPr>
            <a:xfrm>
              <a:off x="7945750" y="488262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3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Freeform 52"/>
            <p:cNvSpPr/>
            <p:nvPr/>
          </p:nvSpPr>
          <p:spPr>
            <a:xfrm>
              <a:off x="7892172" y="485168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Freeform 53"/>
            <p:cNvSpPr/>
            <p:nvPr/>
          </p:nvSpPr>
          <p:spPr>
            <a:xfrm>
              <a:off x="7345675" y="488262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3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Freeform 54"/>
            <p:cNvSpPr/>
            <p:nvPr/>
          </p:nvSpPr>
          <p:spPr>
            <a:xfrm>
              <a:off x="7399253" y="488262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3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Freeform 55"/>
            <p:cNvSpPr/>
            <p:nvPr/>
          </p:nvSpPr>
          <p:spPr>
            <a:xfrm>
              <a:off x="7345675" y="485168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Freeform 56"/>
            <p:cNvSpPr/>
            <p:nvPr/>
          </p:nvSpPr>
          <p:spPr>
            <a:xfrm>
              <a:off x="8165421" y="504038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4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Freeform 57"/>
            <p:cNvSpPr/>
            <p:nvPr/>
          </p:nvSpPr>
          <p:spPr>
            <a:xfrm>
              <a:off x="8218999" y="504038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4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Freeform 58"/>
            <p:cNvSpPr/>
            <p:nvPr/>
          </p:nvSpPr>
          <p:spPr>
            <a:xfrm>
              <a:off x="8165421" y="500944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Freeform 59"/>
            <p:cNvSpPr/>
            <p:nvPr/>
          </p:nvSpPr>
          <p:spPr>
            <a:xfrm>
              <a:off x="7618924" y="504038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4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Freeform 60"/>
            <p:cNvSpPr/>
            <p:nvPr/>
          </p:nvSpPr>
          <p:spPr>
            <a:xfrm>
              <a:off x="7672502" y="504038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4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Freeform 61"/>
            <p:cNvSpPr/>
            <p:nvPr/>
          </p:nvSpPr>
          <p:spPr>
            <a:xfrm>
              <a:off x="7618924" y="500944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Freeform 62"/>
            <p:cNvSpPr/>
            <p:nvPr/>
          </p:nvSpPr>
          <p:spPr>
            <a:xfrm>
              <a:off x="7072427" y="504038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4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126005" y="504038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4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Freeform 64"/>
            <p:cNvSpPr/>
            <p:nvPr/>
          </p:nvSpPr>
          <p:spPr>
            <a:xfrm>
              <a:off x="7072427" y="500944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Freeform 65"/>
            <p:cNvSpPr/>
            <p:nvPr/>
          </p:nvSpPr>
          <p:spPr>
            <a:xfrm>
              <a:off x="7892172" y="519814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4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Freeform 66"/>
            <p:cNvSpPr/>
            <p:nvPr/>
          </p:nvSpPr>
          <p:spPr>
            <a:xfrm>
              <a:off x="7945750" y="519814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4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Freeform 67"/>
            <p:cNvSpPr/>
            <p:nvPr/>
          </p:nvSpPr>
          <p:spPr>
            <a:xfrm>
              <a:off x="7892172" y="516720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Freeform 68"/>
            <p:cNvSpPr/>
            <p:nvPr/>
          </p:nvSpPr>
          <p:spPr>
            <a:xfrm>
              <a:off x="7345675" y="519814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4"/>
                  </a:moveTo>
                  <a:lnTo>
                    <a:pt x="53578" y="377387"/>
                  </a:lnTo>
                  <a:lnTo>
                    <a:pt x="53578" y="3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Freeform 69"/>
            <p:cNvSpPr/>
            <p:nvPr/>
          </p:nvSpPr>
          <p:spPr>
            <a:xfrm>
              <a:off x="7399253" y="519814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4"/>
                  </a:moveTo>
                  <a:lnTo>
                    <a:pt x="0" y="377387"/>
                  </a:lnTo>
                  <a:lnTo>
                    <a:pt x="0" y="30933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Freeform 70"/>
            <p:cNvSpPr/>
            <p:nvPr/>
          </p:nvSpPr>
          <p:spPr>
            <a:xfrm>
              <a:off x="7345675" y="5167208"/>
              <a:ext cx="107156" cy="61866"/>
            </a:xfrm>
            <a:custGeom>
              <a:avLst/>
              <a:gdLst/>
              <a:ahLst/>
              <a:cxnLst/>
              <a:rect l="l" t="t" r="r" b="b"/>
              <a:pathLst>
                <a:path w="107156" h="61866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6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Freeform 71"/>
            <p:cNvSpPr/>
            <p:nvPr/>
          </p:nvSpPr>
          <p:spPr>
            <a:xfrm>
              <a:off x="7618924" y="535590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0" y="346454"/>
                  </a:moveTo>
                  <a:lnTo>
                    <a:pt x="53578" y="377387"/>
                  </a:lnTo>
                  <a:lnTo>
                    <a:pt x="53578" y="30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Freeform 72"/>
            <p:cNvSpPr/>
            <p:nvPr/>
          </p:nvSpPr>
          <p:spPr>
            <a:xfrm>
              <a:off x="7672502" y="5355901"/>
              <a:ext cx="53578" cy="377387"/>
            </a:xfrm>
            <a:custGeom>
              <a:avLst/>
              <a:gdLst/>
              <a:ahLst/>
              <a:cxnLst/>
              <a:rect l="l" t="t" r="r" b="b"/>
              <a:pathLst>
                <a:path w="53578" h="377387">
                  <a:moveTo>
                    <a:pt x="53578" y="346454"/>
                  </a:moveTo>
                  <a:lnTo>
                    <a:pt x="0" y="377387"/>
                  </a:lnTo>
                  <a:lnTo>
                    <a:pt x="0" y="30934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Freeform 73"/>
            <p:cNvSpPr/>
            <p:nvPr/>
          </p:nvSpPr>
          <p:spPr>
            <a:xfrm>
              <a:off x="7618924" y="5324968"/>
              <a:ext cx="107156" cy="61867"/>
            </a:xfrm>
            <a:custGeom>
              <a:avLst/>
              <a:gdLst/>
              <a:ahLst/>
              <a:cxnLst/>
              <a:rect l="l" t="t" r="r" b="b"/>
              <a:pathLst>
                <a:path w="107156" h="61867">
                  <a:moveTo>
                    <a:pt x="53578" y="0"/>
                  </a:moveTo>
                  <a:lnTo>
                    <a:pt x="107156" y="30933"/>
                  </a:lnTo>
                  <a:lnTo>
                    <a:pt x="53578" y="61867"/>
                  </a:lnTo>
                  <a:lnTo>
                    <a:pt x="0" y="3093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Freeform 74"/>
            <p:cNvSpPr/>
            <p:nvPr/>
          </p:nvSpPr>
          <p:spPr>
            <a:xfrm>
              <a:off x="6986702" y="4953768"/>
              <a:ext cx="685800" cy="482560"/>
            </a:xfrm>
            <a:custGeom>
              <a:avLst/>
              <a:gdLst/>
              <a:ahLst/>
              <a:cxnLst/>
              <a:rect l="l" t="t" r="r" b="b"/>
              <a:pathLst>
                <a:path w="685800" h="482560">
                  <a:moveTo>
                    <a:pt x="0" y="86613"/>
                  </a:moveTo>
                  <a:lnTo>
                    <a:pt x="685800" y="482560"/>
                  </a:lnTo>
                  <a:lnTo>
                    <a:pt x="685800" y="395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0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Freeform 75"/>
            <p:cNvSpPr/>
            <p:nvPr/>
          </p:nvSpPr>
          <p:spPr>
            <a:xfrm>
              <a:off x="7672502" y="4953768"/>
              <a:ext cx="685800" cy="482560"/>
            </a:xfrm>
            <a:custGeom>
              <a:avLst/>
              <a:gdLst/>
              <a:ahLst/>
              <a:cxnLst/>
              <a:rect l="l" t="t" r="r" b="b"/>
              <a:pathLst>
                <a:path w="685800" h="482560">
                  <a:moveTo>
                    <a:pt x="685800" y="86613"/>
                  </a:moveTo>
                  <a:lnTo>
                    <a:pt x="0" y="482560"/>
                  </a:lnTo>
                  <a:lnTo>
                    <a:pt x="0" y="395947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6D6DC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Freeform 76"/>
            <p:cNvSpPr/>
            <p:nvPr/>
          </p:nvSpPr>
          <p:spPr>
            <a:xfrm>
              <a:off x="6986702" y="4557821"/>
              <a:ext cx="1371600" cy="791894"/>
            </a:xfrm>
            <a:custGeom>
              <a:avLst/>
              <a:gdLst/>
              <a:ahLst/>
              <a:cxnLst/>
              <a:rect l="l" t="t" r="r" b="b"/>
              <a:pathLst>
                <a:path w="1371600" h="791894">
                  <a:moveTo>
                    <a:pt x="685800" y="0"/>
                  </a:moveTo>
                  <a:lnTo>
                    <a:pt x="1371600" y="395947"/>
                  </a:lnTo>
                  <a:lnTo>
                    <a:pt x="685800" y="791894"/>
                  </a:lnTo>
                  <a:lnTo>
                    <a:pt x="0" y="395947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6355080" y="5907024"/>
            <a:ext cx="263484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ru-RU" sz="1300" b="0">
                <a:solidFill>
                  <a:srgbClr val="161616"/>
                </a:solidFill>
                <a:latin typeface="Jost Medium"/>
              </a:rPr>
              <a:t>Свайный</a:t>
            </a:r>
          </a:p>
        </p:txBody>
      </p:sp>
      <p:sp>
        <p:nvSpPr>
          <p:cNvPr id="79" name="Тень"/>
          <p:cNvSpPr/>
          <p:nvPr/>
        </p:nvSpPr>
        <p:spPr>
          <a:xfrm>
            <a:off x="9731273" y="5669280"/>
            <a:ext cx="1152144" cy="182880"/>
          </a:xfrm>
          <a:prstGeom prst="ellipse">
            <a:avLst/>
          </a:prstGeom>
          <a:gradFill rotWithShape="1">
            <a:gsLst>
              <a:gs pos="0">
                <a:srgbClr val="161628">
                  <a:alpha val="20000"/>
                </a:srgbClr>
              </a:gs>
              <a:gs pos="100000">
                <a:srgbClr val="16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grpSp>
        <p:nvGrpSpPr>
          <p:cNvPr id="80" name="Фундамент: Столбчатый"/>
          <p:cNvGrpSpPr/>
          <p:nvPr/>
        </p:nvGrpSpPr>
        <p:grpSpPr>
          <a:xfrm>
            <a:off x="9621545" y="4706301"/>
            <a:ext cx="1371600" cy="1026987"/>
            <a:chOff x="9621545" y="4706301"/>
            <a:chExt cx="1371600" cy="1026987"/>
          </a:xfrm>
        </p:grpSpPr>
        <p:sp>
          <p:nvSpPr>
            <p:cNvPr id="81" name="Freeform 80"/>
            <p:cNvSpPr/>
            <p:nvPr/>
          </p:nvSpPr>
          <p:spPr>
            <a:xfrm>
              <a:off x="10093033" y="5003261"/>
              <a:ext cx="214312" cy="185600"/>
            </a:xfrm>
            <a:custGeom>
              <a:avLst/>
              <a:gdLst/>
              <a:ahLst/>
              <a:cxnLst/>
              <a:rect l="l" t="t" r="r" b="b"/>
              <a:pathLst>
                <a:path w="214312" h="185600">
                  <a:moveTo>
                    <a:pt x="0" y="61867"/>
                  </a:moveTo>
                  <a:lnTo>
                    <a:pt x="214312" y="185600"/>
                  </a:lnTo>
                  <a:lnTo>
                    <a:pt x="214312" y="123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0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0307345" y="5003261"/>
              <a:ext cx="214313" cy="185600"/>
            </a:xfrm>
            <a:custGeom>
              <a:avLst/>
              <a:gdLst/>
              <a:ahLst/>
              <a:cxnLst/>
              <a:rect l="l" t="t" r="r" b="b"/>
              <a:pathLst>
                <a:path w="214313" h="185600">
                  <a:moveTo>
                    <a:pt x="214313" y="61867"/>
                  </a:moveTo>
                  <a:lnTo>
                    <a:pt x="0" y="185600"/>
                  </a:lnTo>
                  <a:lnTo>
                    <a:pt x="0" y="123733"/>
                  </a:lnTo>
                  <a:lnTo>
                    <a:pt x="214313" y="0"/>
                  </a:lnTo>
                  <a:close/>
                </a:path>
              </a:pathLst>
            </a:custGeom>
            <a:solidFill>
              <a:srgbClr val="D6D6DC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Freeform 82"/>
            <p:cNvSpPr/>
            <p:nvPr/>
          </p:nvSpPr>
          <p:spPr>
            <a:xfrm>
              <a:off x="10093033" y="4879528"/>
              <a:ext cx="428625" cy="247466"/>
            </a:xfrm>
            <a:custGeom>
              <a:avLst/>
              <a:gdLst/>
              <a:ahLst/>
              <a:cxnLst/>
              <a:rect l="l" t="t" r="r" b="b"/>
              <a:pathLst>
                <a:path w="428625" h="247466">
                  <a:moveTo>
                    <a:pt x="214312" y="0"/>
                  </a:moveTo>
                  <a:lnTo>
                    <a:pt x="428625" y="123733"/>
                  </a:lnTo>
                  <a:lnTo>
                    <a:pt x="214312" y="247466"/>
                  </a:lnTo>
                  <a:lnTo>
                    <a:pt x="0" y="12373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Freeform 83"/>
            <p:cNvSpPr/>
            <p:nvPr/>
          </p:nvSpPr>
          <p:spPr>
            <a:xfrm>
              <a:off x="10221620" y="4755794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0" y="247467"/>
                  </a:moveTo>
                  <a:lnTo>
                    <a:pt x="85725" y="296960"/>
                  </a:lnTo>
                  <a:lnTo>
                    <a:pt x="85725" y="494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Freeform 84"/>
            <p:cNvSpPr/>
            <p:nvPr/>
          </p:nvSpPr>
          <p:spPr>
            <a:xfrm>
              <a:off x="10307345" y="4755794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85725" y="247467"/>
                  </a:moveTo>
                  <a:lnTo>
                    <a:pt x="0" y="296960"/>
                  </a:lnTo>
                  <a:lnTo>
                    <a:pt x="0" y="49494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Freeform 85"/>
            <p:cNvSpPr/>
            <p:nvPr/>
          </p:nvSpPr>
          <p:spPr>
            <a:xfrm>
              <a:off x="10221620" y="4706301"/>
              <a:ext cx="171450" cy="98987"/>
            </a:xfrm>
            <a:custGeom>
              <a:avLst/>
              <a:gdLst/>
              <a:ahLst/>
              <a:cxnLst/>
              <a:rect l="l" t="t" r="r" b="b"/>
              <a:pathLst>
                <a:path w="171450" h="98987">
                  <a:moveTo>
                    <a:pt x="85725" y="0"/>
                  </a:moveTo>
                  <a:lnTo>
                    <a:pt x="171450" y="49493"/>
                  </a:lnTo>
                  <a:lnTo>
                    <a:pt x="85725" y="98987"/>
                  </a:lnTo>
                  <a:lnTo>
                    <a:pt x="0" y="4949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Freeform 86"/>
            <p:cNvSpPr/>
            <p:nvPr/>
          </p:nvSpPr>
          <p:spPr>
            <a:xfrm>
              <a:off x="10564520" y="5275474"/>
              <a:ext cx="214313" cy="185601"/>
            </a:xfrm>
            <a:custGeom>
              <a:avLst/>
              <a:gdLst/>
              <a:ahLst/>
              <a:cxnLst/>
              <a:rect l="l" t="t" r="r" b="b"/>
              <a:pathLst>
                <a:path w="214313" h="185601">
                  <a:moveTo>
                    <a:pt x="0" y="61867"/>
                  </a:moveTo>
                  <a:lnTo>
                    <a:pt x="214313" y="185601"/>
                  </a:lnTo>
                  <a:lnTo>
                    <a:pt x="214313" y="123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0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Freeform 87"/>
            <p:cNvSpPr/>
            <p:nvPr/>
          </p:nvSpPr>
          <p:spPr>
            <a:xfrm>
              <a:off x="10778833" y="5275474"/>
              <a:ext cx="214312" cy="185601"/>
            </a:xfrm>
            <a:custGeom>
              <a:avLst/>
              <a:gdLst/>
              <a:ahLst/>
              <a:cxnLst/>
              <a:rect l="l" t="t" r="r" b="b"/>
              <a:pathLst>
                <a:path w="214312" h="185601">
                  <a:moveTo>
                    <a:pt x="214312" y="61867"/>
                  </a:moveTo>
                  <a:lnTo>
                    <a:pt x="0" y="185601"/>
                  </a:lnTo>
                  <a:lnTo>
                    <a:pt x="0" y="123734"/>
                  </a:lnTo>
                  <a:lnTo>
                    <a:pt x="214312" y="0"/>
                  </a:lnTo>
                  <a:close/>
                </a:path>
              </a:pathLst>
            </a:custGeom>
            <a:solidFill>
              <a:srgbClr val="D6D6DC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Freeform 88"/>
            <p:cNvSpPr/>
            <p:nvPr/>
          </p:nvSpPr>
          <p:spPr>
            <a:xfrm>
              <a:off x="10564520" y="5151741"/>
              <a:ext cx="428625" cy="247467"/>
            </a:xfrm>
            <a:custGeom>
              <a:avLst/>
              <a:gdLst/>
              <a:ahLst/>
              <a:cxnLst/>
              <a:rect l="l" t="t" r="r" b="b"/>
              <a:pathLst>
                <a:path w="428625" h="247467">
                  <a:moveTo>
                    <a:pt x="214313" y="0"/>
                  </a:moveTo>
                  <a:lnTo>
                    <a:pt x="428625" y="123733"/>
                  </a:lnTo>
                  <a:lnTo>
                    <a:pt x="214313" y="247467"/>
                  </a:lnTo>
                  <a:lnTo>
                    <a:pt x="0" y="12373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Freeform 89"/>
            <p:cNvSpPr/>
            <p:nvPr/>
          </p:nvSpPr>
          <p:spPr>
            <a:xfrm>
              <a:off x="10693108" y="5028008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0" y="247466"/>
                  </a:moveTo>
                  <a:lnTo>
                    <a:pt x="85725" y="296960"/>
                  </a:lnTo>
                  <a:lnTo>
                    <a:pt x="85725" y="49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Freeform 90"/>
            <p:cNvSpPr/>
            <p:nvPr/>
          </p:nvSpPr>
          <p:spPr>
            <a:xfrm>
              <a:off x="10778833" y="5028008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85725" y="247466"/>
                  </a:moveTo>
                  <a:lnTo>
                    <a:pt x="0" y="296960"/>
                  </a:lnTo>
                  <a:lnTo>
                    <a:pt x="0" y="49493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Freeform 91"/>
            <p:cNvSpPr/>
            <p:nvPr/>
          </p:nvSpPr>
          <p:spPr>
            <a:xfrm>
              <a:off x="10693108" y="4978514"/>
              <a:ext cx="171450" cy="98987"/>
            </a:xfrm>
            <a:custGeom>
              <a:avLst/>
              <a:gdLst/>
              <a:ahLst/>
              <a:cxnLst/>
              <a:rect l="l" t="t" r="r" b="b"/>
              <a:pathLst>
                <a:path w="171450" h="98987">
                  <a:moveTo>
                    <a:pt x="85725" y="0"/>
                  </a:moveTo>
                  <a:lnTo>
                    <a:pt x="171450" y="49494"/>
                  </a:lnTo>
                  <a:lnTo>
                    <a:pt x="85725" y="98987"/>
                  </a:lnTo>
                  <a:lnTo>
                    <a:pt x="0" y="49494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Freeform 92"/>
            <p:cNvSpPr/>
            <p:nvPr/>
          </p:nvSpPr>
          <p:spPr>
            <a:xfrm>
              <a:off x="9621545" y="5275474"/>
              <a:ext cx="214313" cy="185601"/>
            </a:xfrm>
            <a:custGeom>
              <a:avLst/>
              <a:gdLst/>
              <a:ahLst/>
              <a:cxnLst/>
              <a:rect l="l" t="t" r="r" b="b"/>
              <a:pathLst>
                <a:path w="214313" h="185601">
                  <a:moveTo>
                    <a:pt x="0" y="61867"/>
                  </a:moveTo>
                  <a:lnTo>
                    <a:pt x="214313" y="185601"/>
                  </a:lnTo>
                  <a:lnTo>
                    <a:pt x="214313" y="123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0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Freeform 93"/>
            <p:cNvSpPr/>
            <p:nvPr/>
          </p:nvSpPr>
          <p:spPr>
            <a:xfrm>
              <a:off x="9835858" y="5275474"/>
              <a:ext cx="214312" cy="185601"/>
            </a:xfrm>
            <a:custGeom>
              <a:avLst/>
              <a:gdLst/>
              <a:ahLst/>
              <a:cxnLst/>
              <a:rect l="l" t="t" r="r" b="b"/>
              <a:pathLst>
                <a:path w="214312" h="185601">
                  <a:moveTo>
                    <a:pt x="214312" y="61867"/>
                  </a:moveTo>
                  <a:lnTo>
                    <a:pt x="0" y="185601"/>
                  </a:lnTo>
                  <a:lnTo>
                    <a:pt x="0" y="123734"/>
                  </a:lnTo>
                  <a:lnTo>
                    <a:pt x="214312" y="0"/>
                  </a:lnTo>
                  <a:close/>
                </a:path>
              </a:pathLst>
            </a:custGeom>
            <a:solidFill>
              <a:srgbClr val="D6D6DC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Freeform 94"/>
            <p:cNvSpPr/>
            <p:nvPr/>
          </p:nvSpPr>
          <p:spPr>
            <a:xfrm>
              <a:off x="9621545" y="5151741"/>
              <a:ext cx="428625" cy="247467"/>
            </a:xfrm>
            <a:custGeom>
              <a:avLst/>
              <a:gdLst/>
              <a:ahLst/>
              <a:cxnLst/>
              <a:rect l="l" t="t" r="r" b="b"/>
              <a:pathLst>
                <a:path w="428625" h="247467">
                  <a:moveTo>
                    <a:pt x="214313" y="0"/>
                  </a:moveTo>
                  <a:lnTo>
                    <a:pt x="428625" y="123733"/>
                  </a:lnTo>
                  <a:lnTo>
                    <a:pt x="214313" y="247467"/>
                  </a:lnTo>
                  <a:lnTo>
                    <a:pt x="0" y="12373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Freeform 95"/>
            <p:cNvSpPr/>
            <p:nvPr/>
          </p:nvSpPr>
          <p:spPr>
            <a:xfrm>
              <a:off x="9750133" y="5028008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0" y="247466"/>
                  </a:moveTo>
                  <a:lnTo>
                    <a:pt x="85725" y="296960"/>
                  </a:lnTo>
                  <a:lnTo>
                    <a:pt x="85725" y="49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Freeform 96"/>
            <p:cNvSpPr/>
            <p:nvPr/>
          </p:nvSpPr>
          <p:spPr>
            <a:xfrm>
              <a:off x="9835858" y="5028008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85725" y="247466"/>
                  </a:moveTo>
                  <a:lnTo>
                    <a:pt x="0" y="296960"/>
                  </a:lnTo>
                  <a:lnTo>
                    <a:pt x="0" y="49493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Freeform 97"/>
            <p:cNvSpPr/>
            <p:nvPr/>
          </p:nvSpPr>
          <p:spPr>
            <a:xfrm>
              <a:off x="9750133" y="4978514"/>
              <a:ext cx="171450" cy="98987"/>
            </a:xfrm>
            <a:custGeom>
              <a:avLst/>
              <a:gdLst/>
              <a:ahLst/>
              <a:cxnLst/>
              <a:rect l="l" t="t" r="r" b="b"/>
              <a:pathLst>
                <a:path w="171450" h="98987">
                  <a:moveTo>
                    <a:pt x="85725" y="0"/>
                  </a:moveTo>
                  <a:lnTo>
                    <a:pt x="171450" y="49494"/>
                  </a:lnTo>
                  <a:lnTo>
                    <a:pt x="85725" y="98987"/>
                  </a:lnTo>
                  <a:lnTo>
                    <a:pt x="0" y="49494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093033" y="5547688"/>
              <a:ext cx="214312" cy="185600"/>
            </a:xfrm>
            <a:custGeom>
              <a:avLst/>
              <a:gdLst/>
              <a:ahLst/>
              <a:cxnLst/>
              <a:rect l="l" t="t" r="r" b="b"/>
              <a:pathLst>
                <a:path w="214312" h="185600">
                  <a:moveTo>
                    <a:pt x="0" y="61867"/>
                  </a:moveTo>
                  <a:lnTo>
                    <a:pt x="214312" y="185600"/>
                  </a:lnTo>
                  <a:lnTo>
                    <a:pt x="214312" y="123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0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307345" y="5547688"/>
              <a:ext cx="214313" cy="185600"/>
            </a:xfrm>
            <a:custGeom>
              <a:avLst/>
              <a:gdLst/>
              <a:ahLst/>
              <a:cxnLst/>
              <a:rect l="l" t="t" r="r" b="b"/>
              <a:pathLst>
                <a:path w="214313" h="185600">
                  <a:moveTo>
                    <a:pt x="214313" y="61867"/>
                  </a:moveTo>
                  <a:lnTo>
                    <a:pt x="0" y="185600"/>
                  </a:lnTo>
                  <a:lnTo>
                    <a:pt x="0" y="123733"/>
                  </a:lnTo>
                  <a:lnTo>
                    <a:pt x="214313" y="0"/>
                  </a:lnTo>
                  <a:close/>
                </a:path>
              </a:pathLst>
            </a:custGeom>
            <a:solidFill>
              <a:srgbClr val="D6D6DC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093033" y="5423955"/>
              <a:ext cx="428625" cy="247466"/>
            </a:xfrm>
            <a:custGeom>
              <a:avLst/>
              <a:gdLst/>
              <a:ahLst/>
              <a:cxnLst/>
              <a:rect l="l" t="t" r="r" b="b"/>
              <a:pathLst>
                <a:path w="428625" h="247466">
                  <a:moveTo>
                    <a:pt x="214312" y="0"/>
                  </a:moveTo>
                  <a:lnTo>
                    <a:pt x="428625" y="123733"/>
                  </a:lnTo>
                  <a:lnTo>
                    <a:pt x="214312" y="247466"/>
                  </a:lnTo>
                  <a:lnTo>
                    <a:pt x="0" y="12373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221620" y="5300221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0" y="247467"/>
                  </a:moveTo>
                  <a:lnTo>
                    <a:pt x="85725" y="296960"/>
                  </a:lnTo>
                  <a:lnTo>
                    <a:pt x="85725" y="494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96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307345" y="5300221"/>
              <a:ext cx="85725" cy="296960"/>
            </a:xfrm>
            <a:custGeom>
              <a:avLst/>
              <a:gdLst/>
              <a:ahLst/>
              <a:cxnLst/>
              <a:rect l="l" t="t" r="r" b="b"/>
              <a:pathLst>
                <a:path w="85725" h="296960">
                  <a:moveTo>
                    <a:pt x="85725" y="247467"/>
                  </a:moveTo>
                  <a:lnTo>
                    <a:pt x="0" y="296960"/>
                  </a:lnTo>
                  <a:lnTo>
                    <a:pt x="0" y="49494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E03A42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221620" y="5250728"/>
              <a:ext cx="171450" cy="98987"/>
            </a:xfrm>
            <a:custGeom>
              <a:avLst/>
              <a:gdLst/>
              <a:ahLst/>
              <a:cxnLst/>
              <a:rect l="l" t="t" r="r" b="b"/>
              <a:pathLst>
                <a:path w="171450" h="98987">
                  <a:moveTo>
                    <a:pt x="85725" y="0"/>
                  </a:moveTo>
                  <a:lnTo>
                    <a:pt x="171450" y="49493"/>
                  </a:lnTo>
                  <a:lnTo>
                    <a:pt x="85725" y="98987"/>
                  </a:lnTo>
                  <a:lnTo>
                    <a:pt x="0" y="49493"/>
                  </a:lnTo>
                  <a:close/>
                </a:path>
              </a:pathLst>
            </a:custGeom>
            <a:solidFill>
              <a:srgbClr val="FFE6E7"/>
            </a:solidFill>
            <a:ln w="12700">
              <a:solidFill>
                <a:srgbClr val="161616"/>
              </a:solidFill>
              <a:round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8989924" y="5907024"/>
            <a:ext cx="263484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ru-RU" sz="1300" b="0">
                <a:solidFill>
                  <a:srgbClr val="161616"/>
                </a:solidFill>
                <a:latin typeface="Jost Medium"/>
              </a:rPr>
              <a:t>Столбчатый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05 / 11</a:t>
            </a:r>
          </a:p>
        </p:txBody>
      </p:sp>
      <p:sp>
        <p:nvSpPr>
          <p:cNvPr id="11" name="Кнопка"/>
          <p:cNvSpPr/>
          <p:nvPr/>
        </p:nvSpPr>
        <p:spPr>
          <a:xfrm>
            <a:off x="5615788" y="3218688"/>
            <a:ext cx="960120" cy="960120"/>
          </a:xfrm>
          <a:prstGeom prst="ellipse">
            <a:avLst/>
          </a:prstGeom>
          <a:solidFill>
            <a:srgbClr val="E03A42"/>
          </a:solidFill>
          <a:ln>
            <a:noFill/>
          </a:ln>
          <a:effectLst>
            <a:outerShdw blurRad="279400" dist="127000" dir="5400000" sx="90000" sy="90000" algn="t" rotWithShape="0">
              <a:srgbClr val="E03A42">
                <a:alpha val="40000"/>
              </a:srgbClr>
            </a:outerShdw>
          </a:effectLst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2" name="Кнопка"/>
          <p:cNvSpPr/>
          <p:nvPr/>
        </p:nvSpPr>
        <p:spPr>
          <a:xfrm rot="5400000">
            <a:off x="5986120" y="3515868"/>
            <a:ext cx="310896" cy="36576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2648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ru-RU" sz="1600" b="0">
                <a:solidFill>
                  <a:srgbClr val="161616"/>
                </a:solidFill>
                <a:latin typeface="Jost Medium"/>
              </a:rPr>
              <a:t>Место для видео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648" y="476402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ru-RU" sz="1050" b="0">
                <a:solidFill>
                  <a:srgbClr val="6A6A70"/>
                </a:solidFill>
                <a:latin typeface="IBM Plex Mono"/>
              </a:rPr>
              <a:t>16:9, 1 минута. Вставьте видео в эту рамку</a:t>
            </a:r>
          </a:p>
        </p:txBody>
      </p:sp>
      <p:pic>
        <p:nvPicPr>
          <p:cNvPr id="15" name="video_2026-09-27_10-21-07">
            <a:hlinkClick r:id="" action="ppaction://media"/>
            <a:extLst>
              <a:ext uri="{FF2B5EF4-FFF2-40B4-BE49-F238E27FC236}">
                <a16:creationId xmlns:a16="http://schemas.microsoft.com/office/drawing/2014/main" id="{958FF387-5E0A-4279-8827-60D2522BEED0}"/>
              </a:ext>
            </a:extLst>
          </p:cNvPr>
          <p:cNvPicPr>
            <a:picLocks noGrp="1" noChangeAspect="1"/>
          </p:cNvPicPr>
          <p:nvPr>
            <p:ph type="media"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8714" y="630936"/>
            <a:ext cx="10765708" cy="5652961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623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Правила</a:t>
            </a:r>
          </a:p>
        </p:txBody>
      </p:sp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06 / 11</a:t>
            </a:r>
          </a:p>
        </p:txBody>
      </p:sp>
      <p:sp>
        <p:nvSpPr>
          <p:cNvPr id="8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Выбор проверяется по правилам,</a:t>
            </a:r>
          </a:p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а не на доверии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sp>
        <p:nvSpPr>
          <p:cNvPr id="9" name="Шапка матрицы"/>
          <p:cNvSpPr/>
          <p:nvPr/>
        </p:nvSpPr>
        <p:spPr>
          <a:xfrm>
            <a:off x="566928" y="2359152"/>
            <a:ext cx="7333488" cy="310896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17556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850" b="0" cap="all" spc="70">
                <a:solidFill>
                  <a:srgbClr val="FFFFFF"/>
                </a:solidFill>
                <a:latin typeface="Jost Medium"/>
              </a:rPr>
              <a:t>Фактор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359152"/>
            <a:ext cx="9326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850" b="0" cap="all" spc="70">
                <a:solidFill>
                  <a:srgbClr val="FFFFFF"/>
                </a:solidFill>
                <a:latin typeface="Jost Medium"/>
              </a:rPr>
              <a:t>Значение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359152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850" b="0" cap="all" spc="70">
                <a:solidFill>
                  <a:srgbClr val="FF4F55"/>
                </a:solidFill>
                <a:latin typeface="Jost Medium"/>
              </a:rPr>
              <a:t>Свайный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59152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850" b="0" cap="all" spc="70">
                <a:solidFill>
                  <a:srgbClr val="FFFFFF"/>
                </a:solidFill>
                <a:latin typeface="Jost Medium"/>
              </a:rPr>
              <a:t>Плитный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359152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850" b="0" cap="all" spc="70">
                <a:solidFill>
                  <a:srgbClr val="FFFFFF"/>
                </a:solidFill>
                <a:latin typeface="Jost Medium"/>
              </a:rPr>
              <a:t>Ленточный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359152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850" b="0" cap="all" spc="70">
                <a:solidFill>
                  <a:srgbClr val="FFFFFF"/>
                </a:solidFill>
                <a:latin typeface="Jost Medium"/>
              </a:rPr>
              <a:t>Столбчатый</a:t>
            </a:r>
          </a:p>
        </p:txBody>
      </p:sp>
      <p:sp>
        <p:nvSpPr>
          <p:cNvPr id="16" name="Строка"/>
          <p:cNvSpPr/>
          <p:nvPr/>
        </p:nvSpPr>
        <p:spPr>
          <a:xfrm>
            <a:off x="566928" y="2743200"/>
            <a:ext cx="7333488" cy="365760"/>
          </a:xfrm>
          <a:prstGeom prst="roundRect">
            <a:avLst>
              <a:gd name="adj" fmla="val 25000"/>
            </a:avLst>
          </a:prstGeom>
          <a:solidFill>
            <a:srgbClr val="F6F6F8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74320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161616"/>
                </a:solidFill>
                <a:latin typeface="Jost Medium"/>
              </a:rPr>
              <a:t>Тип грунта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274320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3C3C42"/>
                </a:solidFill>
                <a:latin typeface="Jost"/>
              </a:rPr>
              <a:t>Суглинок</a:t>
            </a:r>
          </a:p>
        </p:txBody>
      </p:sp>
      <p:sp>
        <p:nvSpPr>
          <p:cNvPr id="19" name="Вердикт"/>
          <p:cNvSpPr/>
          <p:nvPr/>
        </p:nvSpPr>
        <p:spPr>
          <a:xfrm>
            <a:off x="3685032" y="28117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21024" y="27432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21" name="Вердикт"/>
          <p:cNvSpPr/>
          <p:nvPr/>
        </p:nvSpPr>
        <p:spPr>
          <a:xfrm>
            <a:off x="4754880" y="28117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0872" y="27432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23" name="Вердикт"/>
          <p:cNvSpPr/>
          <p:nvPr/>
        </p:nvSpPr>
        <p:spPr>
          <a:xfrm>
            <a:off x="5824728" y="28117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27432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25" name="Вердикт"/>
          <p:cNvSpPr/>
          <p:nvPr/>
        </p:nvSpPr>
        <p:spPr>
          <a:xfrm>
            <a:off x="6894576" y="28117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0568" y="27432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27" name="Строка"/>
          <p:cNvSpPr/>
          <p:nvPr/>
        </p:nvSpPr>
        <p:spPr>
          <a:xfrm>
            <a:off x="566928" y="3154680"/>
            <a:ext cx="7333488" cy="365760"/>
          </a:xfrm>
          <a:prstGeom prst="roundRect">
            <a:avLst>
              <a:gd name="adj" fmla="val 25000"/>
            </a:avLst>
          </a:prstGeom>
          <a:solidFill>
            <a:srgbClr val="EEEEF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15468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161616"/>
                </a:solidFill>
                <a:latin typeface="Jost Medium"/>
              </a:rPr>
              <a:t>Несущая способность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5456" y="315468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3C3C42"/>
                </a:solidFill>
                <a:latin typeface="Jost"/>
              </a:rPr>
              <a:t>Средняя</a:t>
            </a:r>
          </a:p>
        </p:txBody>
      </p:sp>
      <p:sp>
        <p:nvSpPr>
          <p:cNvPr id="30" name="Вердикт"/>
          <p:cNvSpPr/>
          <p:nvPr/>
        </p:nvSpPr>
        <p:spPr>
          <a:xfrm>
            <a:off x="3685032" y="32232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21024" y="31546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32" name="Вердикт"/>
          <p:cNvSpPr/>
          <p:nvPr/>
        </p:nvSpPr>
        <p:spPr>
          <a:xfrm>
            <a:off x="4754880" y="32232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90872" y="31546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34" name="Вердикт"/>
          <p:cNvSpPr/>
          <p:nvPr/>
        </p:nvSpPr>
        <p:spPr>
          <a:xfrm>
            <a:off x="5824728" y="32232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20" y="31546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36" name="Вердикт"/>
          <p:cNvSpPr/>
          <p:nvPr/>
        </p:nvSpPr>
        <p:spPr>
          <a:xfrm>
            <a:off x="6894576" y="32232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30568" y="31546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38" name="Строка"/>
          <p:cNvSpPr/>
          <p:nvPr/>
        </p:nvSpPr>
        <p:spPr>
          <a:xfrm>
            <a:off x="566928" y="3566160"/>
            <a:ext cx="7333488" cy="365760"/>
          </a:xfrm>
          <a:prstGeom prst="roundRect">
            <a:avLst>
              <a:gd name="adj" fmla="val 25000"/>
            </a:avLst>
          </a:prstGeom>
          <a:solidFill>
            <a:srgbClr val="F6F6F8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356616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161616"/>
                </a:solidFill>
                <a:latin typeface="Jost Medium"/>
              </a:rPr>
              <a:t>Грунтовые воды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356616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3C3C42"/>
                </a:solidFill>
                <a:latin typeface="Jost"/>
              </a:rPr>
              <a:t>Высокий УГВ</a:t>
            </a:r>
          </a:p>
        </p:txBody>
      </p:sp>
      <p:sp>
        <p:nvSpPr>
          <p:cNvPr id="41" name="Вердикт"/>
          <p:cNvSpPr/>
          <p:nvPr/>
        </p:nvSpPr>
        <p:spPr>
          <a:xfrm>
            <a:off x="3685032" y="363474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21024" y="356616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43" name="Вердикт"/>
          <p:cNvSpPr/>
          <p:nvPr/>
        </p:nvSpPr>
        <p:spPr>
          <a:xfrm>
            <a:off x="4754880" y="363474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90872" y="356616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45" name="Вердикт"/>
          <p:cNvSpPr/>
          <p:nvPr/>
        </p:nvSpPr>
        <p:spPr>
          <a:xfrm>
            <a:off x="5824728" y="363474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356616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9A5800"/>
                </a:solidFill>
                <a:latin typeface="Jost Medium"/>
              </a:rPr>
              <a:t>неблагоприятно</a:t>
            </a:r>
          </a:p>
        </p:txBody>
      </p:sp>
      <p:sp>
        <p:nvSpPr>
          <p:cNvPr id="47" name="Вердикт"/>
          <p:cNvSpPr/>
          <p:nvPr/>
        </p:nvSpPr>
        <p:spPr>
          <a:xfrm>
            <a:off x="6894576" y="363474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30568" y="356616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9A5800"/>
                </a:solidFill>
                <a:latin typeface="Jost Medium"/>
              </a:rPr>
              <a:t>неблагоприятно</a:t>
            </a:r>
          </a:p>
        </p:txBody>
      </p:sp>
      <p:sp>
        <p:nvSpPr>
          <p:cNvPr id="49" name="Строка"/>
          <p:cNvSpPr/>
          <p:nvPr/>
        </p:nvSpPr>
        <p:spPr>
          <a:xfrm>
            <a:off x="566928" y="3977640"/>
            <a:ext cx="7333488" cy="365760"/>
          </a:xfrm>
          <a:prstGeom prst="roundRect">
            <a:avLst>
              <a:gd name="adj" fmla="val 25000"/>
            </a:avLst>
          </a:prstGeom>
          <a:solidFill>
            <a:srgbClr val="EEEEF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" y="397764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161616"/>
                </a:solidFill>
                <a:latin typeface="Jost Medium"/>
              </a:rPr>
              <a:t>Промерзание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05456" y="397764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3C3C42"/>
                </a:solidFill>
                <a:latin typeface="Jost"/>
              </a:rPr>
              <a:t>1,5–2,0 м</a:t>
            </a:r>
          </a:p>
        </p:txBody>
      </p:sp>
      <p:sp>
        <p:nvSpPr>
          <p:cNvPr id="52" name="Вердикт"/>
          <p:cNvSpPr/>
          <p:nvPr/>
        </p:nvSpPr>
        <p:spPr>
          <a:xfrm>
            <a:off x="3685032" y="404622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21024" y="397764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54" name="Вердикт"/>
          <p:cNvSpPr/>
          <p:nvPr/>
        </p:nvSpPr>
        <p:spPr>
          <a:xfrm>
            <a:off x="4754880" y="404622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90872" y="397764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56" name="Вердикт"/>
          <p:cNvSpPr/>
          <p:nvPr/>
        </p:nvSpPr>
        <p:spPr>
          <a:xfrm>
            <a:off x="5824728" y="404622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60720" y="397764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9A5800"/>
                </a:solidFill>
                <a:latin typeface="Jost Medium"/>
              </a:rPr>
              <a:t>неблагоприятно</a:t>
            </a:r>
          </a:p>
        </p:txBody>
      </p:sp>
      <p:sp>
        <p:nvSpPr>
          <p:cNvPr id="58" name="Вердикт"/>
          <p:cNvSpPr/>
          <p:nvPr/>
        </p:nvSpPr>
        <p:spPr>
          <a:xfrm>
            <a:off x="6894576" y="404622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30568" y="397764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9A5800"/>
                </a:solidFill>
                <a:latin typeface="Jost Medium"/>
              </a:rPr>
              <a:t>неблагоприятно</a:t>
            </a:r>
          </a:p>
        </p:txBody>
      </p:sp>
      <p:sp>
        <p:nvSpPr>
          <p:cNvPr id="60" name="Строка"/>
          <p:cNvSpPr/>
          <p:nvPr/>
        </p:nvSpPr>
        <p:spPr>
          <a:xfrm>
            <a:off x="566928" y="4389120"/>
            <a:ext cx="7333488" cy="365760"/>
          </a:xfrm>
          <a:prstGeom prst="roundRect">
            <a:avLst>
              <a:gd name="adj" fmla="val 25000"/>
            </a:avLst>
          </a:prstGeom>
          <a:solidFill>
            <a:srgbClr val="F6F6F8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9808" y="438912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161616"/>
                </a:solidFill>
                <a:latin typeface="Jost Medium"/>
              </a:rPr>
              <a:t>Этажность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05456" y="43891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3C3C42"/>
                </a:solidFill>
                <a:latin typeface="Jost"/>
              </a:rPr>
              <a:t>3 этажа</a:t>
            </a:r>
          </a:p>
        </p:txBody>
      </p:sp>
      <p:sp>
        <p:nvSpPr>
          <p:cNvPr id="63" name="Вердикт"/>
          <p:cNvSpPr/>
          <p:nvPr/>
        </p:nvSpPr>
        <p:spPr>
          <a:xfrm>
            <a:off x="3685032" y="445770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21024" y="438912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65" name="Вердикт"/>
          <p:cNvSpPr/>
          <p:nvPr/>
        </p:nvSpPr>
        <p:spPr>
          <a:xfrm>
            <a:off x="4754880" y="445770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90872" y="438912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67" name="Вердикт"/>
          <p:cNvSpPr/>
          <p:nvPr/>
        </p:nvSpPr>
        <p:spPr>
          <a:xfrm>
            <a:off x="5824728" y="445770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760720" y="438912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69" name="Вердикт"/>
          <p:cNvSpPr/>
          <p:nvPr/>
        </p:nvSpPr>
        <p:spPr>
          <a:xfrm>
            <a:off x="6894576" y="445770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30568" y="438912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FFFFFF"/>
                </a:solidFill>
                <a:latin typeface="Jost Medium"/>
              </a:rPr>
              <a:t>исключает</a:t>
            </a:r>
          </a:p>
        </p:txBody>
      </p:sp>
      <p:sp>
        <p:nvSpPr>
          <p:cNvPr id="71" name="Строка"/>
          <p:cNvSpPr/>
          <p:nvPr/>
        </p:nvSpPr>
        <p:spPr>
          <a:xfrm>
            <a:off x="566928" y="4800600"/>
            <a:ext cx="7333488" cy="365760"/>
          </a:xfrm>
          <a:prstGeom prst="roundRect">
            <a:avLst>
              <a:gd name="adj" fmla="val 25000"/>
            </a:avLst>
          </a:prstGeom>
          <a:solidFill>
            <a:srgbClr val="EEEEF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8" y="480060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161616"/>
                </a:solidFill>
                <a:latin typeface="Jost Medium"/>
              </a:rPr>
              <a:t>Материал стен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05456" y="480060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3C3C42"/>
                </a:solidFill>
                <a:latin typeface="Jost"/>
              </a:rPr>
              <a:t>Кирпич</a:t>
            </a:r>
          </a:p>
        </p:txBody>
      </p:sp>
      <p:sp>
        <p:nvSpPr>
          <p:cNvPr id="74" name="Вердикт"/>
          <p:cNvSpPr/>
          <p:nvPr/>
        </p:nvSpPr>
        <p:spPr>
          <a:xfrm>
            <a:off x="3685032" y="48691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621024" y="48006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76" name="Вердикт"/>
          <p:cNvSpPr/>
          <p:nvPr/>
        </p:nvSpPr>
        <p:spPr>
          <a:xfrm>
            <a:off x="4754880" y="48691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690872" y="48006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78" name="Вердикт"/>
          <p:cNvSpPr/>
          <p:nvPr/>
        </p:nvSpPr>
        <p:spPr>
          <a:xfrm>
            <a:off x="5824728" y="48691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760720" y="48006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80" name="Вердикт"/>
          <p:cNvSpPr/>
          <p:nvPr/>
        </p:nvSpPr>
        <p:spPr>
          <a:xfrm>
            <a:off x="6894576" y="486918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30568" y="480060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9A5800"/>
                </a:solidFill>
                <a:latin typeface="Jost Medium"/>
              </a:rPr>
              <a:t>неблагоприятно</a:t>
            </a:r>
          </a:p>
        </p:txBody>
      </p:sp>
      <p:sp>
        <p:nvSpPr>
          <p:cNvPr id="82" name="Строка"/>
          <p:cNvSpPr/>
          <p:nvPr/>
        </p:nvSpPr>
        <p:spPr>
          <a:xfrm>
            <a:off x="566928" y="5212080"/>
            <a:ext cx="7333488" cy="365760"/>
          </a:xfrm>
          <a:prstGeom prst="roundRect">
            <a:avLst>
              <a:gd name="adj" fmla="val 25000"/>
            </a:avLst>
          </a:prstGeom>
          <a:solidFill>
            <a:srgbClr val="F6F6F8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9808" y="521208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161616"/>
                </a:solidFill>
                <a:latin typeface="Jost Medium"/>
              </a:rPr>
              <a:t>Сейсмичность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05456" y="521208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150" b="0">
                <a:solidFill>
                  <a:srgbClr val="3C3C42"/>
                </a:solidFill>
                <a:latin typeface="Jost"/>
              </a:rPr>
              <a:t>7 баллов</a:t>
            </a:r>
          </a:p>
        </p:txBody>
      </p:sp>
      <p:sp>
        <p:nvSpPr>
          <p:cNvPr id="85" name="Вердикт"/>
          <p:cNvSpPr/>
          <p:nvPr/>
        </p:nvSpPr>
        <p:spPr>
          <a:xfrm>
            <a:off x="3685032" y="52806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21024" y="52120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87" name="Вердикт"/>
          <p:cNvSpPr/>
          <p:nvPr/>
        </p:nvSpPr>
        <p:spPr>
          <a:xfrm>
            <a:off x="4754880" y="52806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DDF0E3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690872" y="52120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1E6B40"/>
                </a:solidFill>
                <a:latin typeface="Jost Medium"/>
              </a:rPr>
              <a:t>благоприятно</a:t>
            </a:r>
          </a:p>
        </p:txBody>
      </p:sp>
      <p:sp>
        <p:nvSpPr>
          <p:cNvPr id="89" name="Вердикт"/>
          <p:cNvSpPr/>
          <p:nvPr/>
        </p:nvSpPr>
        <p:spPr>
          <a:xfrm>
            <a:off x="5824728" y="52806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760720" y="52120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sp>
        <p:nvSpPr>
          <p:cNvPr id="91" name="Вердикт"/>
          <p:cNvSpPr/>
          <p:nvPr/>
        </p:nvSpPr>
        <p:spPr>
          <a:xfrm>
            <a:off x="6894576" y="5280660"/>
            <a:ext cx="941832" cy="228600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830568" y="52120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900" b="0">
                <a:solidFill>
                  <a:srgbClr val="2E7D50"/>
                </a:solidFill>
                <a:latin typeface="Jost Medium"/>
              </a:rPr>
              <a:t>допустимо</a:t>
            </a:r>
          </a:p>
        </p:txBody>
      </p:sp>
      <p:cxnSp>
        <p:nvCxnSpPr>
          <p:cNvPr id="93" name="Линия"/>
          <p:cNvCxnSpPr/>
          <p:nvPr/>
        </p:nvCxnSpPr>
        <p:spPr>
          <a:xfrm>
            <a:off x="566928" y="5650992"/>
            <a:ext cx="7333488" cy="0"/>
          </a:xfrm>
          <a:prstGeom prst="line">
            <a:avLst/>
          </a:prstGeom>
          <a:ln w="12700">
            <a:solidFill>
              <a:srgbClr val="161616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749808" y="5705856"/>
            <a:ext cx="305409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0">
                <a:solidFill>
                  <a:srgbClr val="161616"/>
                </a:solidFill>
                <a:latin typeface="Jost SemiBold"/>
              </a:rPr>
              <a:t>Оценка пригодности, Jev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21024" y="5705856"/>
            <a:ext cx="106984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700" b="0" spc="-20">
                <a:solidFill>
                  <a:srgbClr val="E03A42"/>
                </a:solidFill>
                <a:latin typeface="Jost SemiBold"/>
              </a:rPr>
              <a:t>84%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90872" y="5705856"/>
            <a:ext cx="106984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700" b="0" spc="-20">
                <a:solidFill>
                  <a:srgbClr val="161616"/>
                </a:solidFill>
                <a:latin typeface="Jost SemiBold"/>
              </a:rPr>
              <a:t>77%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760720" y="5705856"/>
            <a:ext cx="106984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700" b="0" spc="-20">
                <a:solidFill>
                  <a:srgbClr val="161616"/>
                </a:solidFill>
                <a:latin typeface="Jost SemiBold"/>
              </a:rPr>
              <a:t>22%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30568" y="5705856"/>
            <a:ext cx="106984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050" b="0" spc="-20">
                <a:solidFill>
                  <a:srgbClr val="6A6A70"/>
                </a:solidFill>
                <a:latin typeface="Jost Medium"/>
              </a:rPr>
              <a:t>вне топ-3</a:t>
            </a:r>
          </a:p>
        </p:txBody>
      </p:sp>
      <p:sp>
        <p:nvSpPr>
          <p:cNvPr id="99" name="Победитель"/>
          <p:cNvSpPr/>
          <p:nvPr/>
        </p:nvSpPr>
        <p:spPr>
          <a:xfrm>
            <a:off x="3639312" y="2304288"/>
            <a:ext cx="1033272" cy="3877056"/>
          </a:xfrm>
          <a:prstGeom prst="roundRect">
            <a:avLst>
              <a:gd name="adj" fmla="val 14159"/>
            </a:avLst>
          </a:prstGeom>
          <a:noFill/>
          <a:ln w="19050">
            <a:solidFill>
              <a:srgbClr val="E03A42"/>
            </a:solidFill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0" name="Шаг 1"/>
          <p:cNvSpPr txBox="1"/>
          <p:nvPr/>
        </p:nvSpPr>
        <p:spPr>
          <a:xfrm>
            <a:off x="8321040" y="2340864"/>
            <a:ext cx="330372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00" b="0" spc="-32">
                <a:solidFill>
                  <a:srgbClr val="E03A42"/>
                </a:solidFill>
                <a:latin typeface="Jost SemiBold"/>
              </a:rPr>
              <a:t>1.</a:t>
            </a:r>
            <a:r>
              <a:rPr lang="ru-RU" sz="1600" b="0" spc="-32">
                <a:solidFill>
                  <a:srgbClr val="161616"/>
                </a:solidFill>
                <a:latin typeface="Jost SemiBold"/>
              </a:rPr>
              <a:t> Справочник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21040" y="2706624"/>
            <a:ext cx="330372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Для каждого типа и фактора задан вердикт и сила влияния.</a:t>
            </a:r>
          </a:p>
        </p:txBody>
      </p:sp>
      <p:cxnSp>
        <p:nvCxnSpPr>
          <p:cNvPr id="102" name="Линия"/>
          <p:cNvCxnSpPr/>
          <p:nvPr/>
        </p:nvCxnSpPr>
        <p:spPr>
          <a:xfrm>
            <a:off x="8321040" y="3145536"/>
            <a:ext cx="330372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03" name="Шаг 2"/>
          <p:cNvSpPr txBox="1"/>
          <p:nvPr/>
        </p:nvSpPr>
        <p:spPr>
          <a:xfrm>
            <a:off x="8321040" y="3255264"/>
            <a:ext cx="330372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00" b="0" spc="-32">
                <a:solidFill>
                  <a:srgbClr val="E03A42"/>
                </a:solidFill>
                <a:latin typeface="Jost SemiBold"/>
              </a:rPr>
              <a:t>2.</a:t>
            </a:r>
            <a:r>
              <a:rPr lang="ru-RU" sz="1600" b="0" spc="-32">
                <a:solidFill>
                  <a:srgbClr val="161616"/>
                </a:solidFill>
                <a:latin typeface="Jost SemiBold"/>
              </a:rPr>
              <a:t> Jev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21040" y="3621024"/>
            <a:ext cx="330372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Получает оценки только для ваших данных и считает процент пригодности.</a:t>
            </a:r>
          </a:p>
        </p:txBody>
      </p:sp>
      <p:cxnSp>
        <p:nvCxnSpPr>
          <p:cNvPr id="105" name="Линия"/>
          <p:cNvCxnSpPr/>
          <p:nvPr/>
        </p:nvCxnSpPr>
        <p:spPr>
          <a:xfrm>
            <a:off x="8321040" y="4059936"/>
            <a:ext cx="3303727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06" name="Шаг 3"/>
          <p:cNvSpPr txBox="1"/>
          <p:nvPr/>
        </p:nvSpPr>
        <p:spPr>
          <a:xfrm>
            <a:off x="8321040" y="4169664"/>
            <a:ext cx="330372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600" b="0" spc="-32">
                <a:solidFill>
                  <a:srgbClr val="E03A42"/>
                </a:solidFill>
                <a:latin typeface="Jost SemiBold"/>
              </a:rPr>
              <a:t>3.</a:t>
            </a:r>
            <a:r>
              <a:rPr lang="ru-RU" sz="1600" b="0" spc="-32">
                <a:solidFill>
                  <a:srgbClr val="161616"/>
                </a:solidFill>
                <a:latin typeface="Jost SemiBold"/>
              </a:rPr>
              <a:t> DeepSeek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21040" y="4535424"/>
            <a:ext cx="330372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Пишет плюсы, минусы и отчёт. Числа не меняет.</a:t>
            </a:r>
          </a:p>
        </p:txBody>
      </p:sp>
      <p:sp>
        <p:nvSpPr>
          <p:cNvPr id="108" name="Вывод"/>
          <p:cNvSpPr/>
          <p:nvPr/>
        </p:nvSpPr>
        <p:spPr>
          <a:xfrm>
            <a:off x="8321040" y="5138928"/>
            <a:ext cx="3303727" cy="1005840"/>
          </a:xfrm>
          <a:prstGeom prst="rect">
            <a:avLst/>
          </a:prstGeom>
          <a:solidFill>
            <a:srgbClr val="FFFAFA"/>
          </a:solidFill>
          <a:ln w="9525">
            <a:solidFill>
              <a:srgbClr val="E2E2E6"/>
            </a:solidFill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9" name="Вывод"/>
          <p:cNvSpPr/>
          <p:nvPr/>
        </p:nvSpPr>
        <p:spPr>
          <a:xfrm>
            <a:off x="8321040" y="5138928"/>
            <a:ext cx="41148" cy="1005840"/>
          </a:xfrm>
          <a:prstGeom prst="rect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10" name="Вывод"/>
          <p:cNvSpPr txBox="1"/>
          <p:nvPr/>
        </p:nvSpPr>
        <p:spPr>
          <a:xfrm>
            <a:off x="8595360" y="5138928"/>
            <a:ext cx="2800807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250" b="0">
                <a:solidFill>
                  <a:srgbClr val="161616"/>
                </a:solidFill>
                <a:latin typeface="Jost"/>
              </a:rPr>
              <a:t>Видно, какой фактор исключил вариант: </a:t>
            </a:r>
            <a:r>
              <a:rPr lang="ru-RU" sz="1250" b="0">
                <a:solidFill>
                  <a:srgbClr val="161616"/>
                </a:solidFill>
                <a:latin typeface="Jost SemiBold"/>
              </a:rPr>
              <a:t>столбчатый отпал из-за этажности.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MVP</a:t>
            </a:r>
          </a:p>
        </p:txBody>
      </p:sp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07 / 11</a:t>
            </a:r>
          </a:p>
        </p:txBody>
      </p:sp>
      <p:sp>
        <p:nvSpPr>
          <p:cNvPr id="8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MVP работает: от формы</a:t>
            </a:r>
          </a:p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до отчёта в PDF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pic>
        <p:nvPicPr>
          <p:cNvPr id="9" name="Экран: Форма" descr="mvp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31720"/>
            <a:ext cx="3502152" cy="2188845"/>
          </a:xfrm>
          <a:prstGeom prst="rect">
            <a:avLst/>
          </a:prstGeom>
          <a:ln w="9525">
            <a:solidFill>
              <a:srgbClr val="E2E2E6"/>
            </a:solidFill>
          </a:ln>
          <a:effectLst>
            <a:outerShdw blurRad="381000" dist="177800" dir="5400000" sx="94000" sy="94000" algn="t" rotWithShape="0">
              <a:srgbClr val="161628">
                <a:alpha val="22000"/>
              </a:srgbClr>
            </a:outerShdw>
          </a:effectLst>
        </p:spPr>
      </p:pic>
      <p:sp>
        <p:nvSpPr>
          <p:cNvPr id="10" name="Шаг 1"/>
          <p:cNvSpPr txBox="1"/>
          <p:nvPr/>
        </p:nvSpPr>
        <p:spPr>
          <a:xfrm>
            <a:off x="566928" y="4776597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700" b="0" spc="-34">
                <a:solidFill>
                  <a:srgbClr val="E03A42"/>
                </a:solidFill>
                <a:latin typeface="Jost SemiBold"/>
              </a:rPr>
              <a:t>1.</a:t>
            </a:r>
            <a:r>
              <a:rPr lang="ru-RU" sz="1700" b="0" spc="-34">
                <a:solidFill>
                  <a:srgbClr val="161616"/>
                </a:solidFill>
                <a:latin typeface="Jost SemiBold"/>
              </a:rPr>
              <a:t> Форма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42357"/>
            <a:ext cx="3319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9 параметров площадки с подсказками и проверкой ввода.</a:t>
            </a:r>
          </a:p>
        </p:txBody>
      </p:sp>
      <p:pic>
        <p:nvPicPr>
          <p:cNvPr id="12" name="Экран: Результат" descr="mvp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772" y="2331720"/>
            <a:ext cx="3502152" cy="2188845"/>
          </a:xfrm>
          <a:prstGeom prst="rect">
            <a:avLst/>
          </a:prstGeom>
          <a:ln w="9525">
            <a:solidFill>
              <a:srgbClr val="E2E2E6"/>
            </a:solidFill>
          </a:ln>
          <a:effectLst>
            <a:outerShdw blurRad="381000" dist="177800" dir="5400000" sx="94000" sy="94000" algn="t" rotWithShape="0">
              <a:srgbClr val="161628">
                <a:alpha val="22000"/>
              </a:srgbClr>
            </a:outerShdw>
          </a:effectLst>
        </p:spPr>
      </p:pic>
      <p:sp>
        <p:nvSpPr>
          <p:cNvPr id="13" name="Шаг 2"/>
          <p:cNvSpPr txBox="1"/>
          <p:nvPr/>
        </p:nvSpPr>
        <p:spPr>
          <a:xfrm>
            <a:off x="4344772" y="4776597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700" b="0" spc="-34">
                <a:solidFill>
                  <a:srgbClr val="E03A42"/>
                </a:solidFill>
                <a:latin typeface="Jost SemiBold"/>
              </a:rPr>
              <a:t>2.</a:t>
            </a:r>
            <a:r>
              <a:rPr lang="ru-RU" sz="1700" b="0" spc="-34">
                <a:solidFill>
                  <a:srgbClr val="161616"/>
                </a:solidFill>
                <a:latin typeface="Jost SemiBold"/>
              </a:rPr>
              <a:t>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4772" y="5142357"/>
            <a:ext cx="3319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Рекомендация, 2 альтернативы с процентами, плюсы и минусы.</a:t>
            </a:r>
          </a:p>
        </p:txBody>
      </p:sp>
      <p:pic>
        <p:nvPicPr>
          <p:cNvPr id="15" name="Экран: Отчёт" descr="mvp_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615" y="2331720"/>
            <a:ext cx="3502152" cy="2188845"/>
          </a:xfrm>
          <a:prstGeom prst="rect">
            <a:avLst/>
          </a:prstGeom>
          <a:ln w="9525">
            <a:solidFill>
              <a:srgbClr val="E2E2E6"/>
            </a:solidFill>
          </a:ln>
          <a:effectLst>
            <a:outerShdw blurRad="381000" dist="177800" dir="5400000" sx="94000" sy="94000" algn="t" rotWithShape="0">
              <a:srgbClr val="161628">
                <a:alpha val="22000"/>
              </a:srgbClr>
            </a:outerShdw>
          </a:effectLst>
        </p:spPr>
      </p:pic>
      <p:sp>
        <p:nvSpPr>
          <p:cNvPr id="16" name="Шаг 3"/>
          <p:cNvSpPr txBox="1"/>
          <p:nvPr/>
        </p:nvSpPr>
        <p:spPr>
          <a:xfrm>
            <a:off x="8122615" y="4776597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700" b="0" spc="-34">
                <a:solidFill>
                  <a:srgbClr val="E03A42"/>
                </a:solidFill>
                <a:latin typeface="Jost SemiBold"/>
              </a:rPr>
              <a:t>3.</a:t>
            </a:r>
            <a:r>
              <a:rPr lang="ru-RU" sz="1700" b="0" spc="-34">
                <a:solidFill>
                  <a:srgbClr val="161616"/>
                </a:solidFill>
                <a:latin typeface="Jost SemiBold"/>
              </a:rPr>
              <a:t> Отчёт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2615" y="5142357"/>
            <a:ext cx="3319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Сравнительная матрица, риски и вывод. Скачивается в PDF.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78815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Стек</a:t>
            </a:r>
          </a:p>
        </p:txBody>
      </p:sp>
      <p:sp>
        <p:nvSpPr>
          <p:cNvPr id="19" name="Технология"/>
          <p:cNvSpPr/>
          <p:nvPr/>
        </p:nvSpPr>
        <p:spPr>
          <a:xfrm>
            <a:off x="1133856" y="5788152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5788152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000" b="0">
                <a:solidFill>
                  <a:srgbClr val="FFFFFF"/>
                </a:solidFill>
                <a:latin typeface="Jost Medium"/>
              </a:rPr>
              <a:t>React + TypeScript</a:t>
            </a:r>
          </a:p>
        </p:txBody>
      </p:sp>
      <p:sp>
        <p:nvSpPr>
          <p:cNvPr id="21" name="Технология"/>
          <p:cNvSpPr/>
          <p:nvPr/>
        </p:nvSpPr>
        <p:spPr>
          <a:xfrm>
            <a:off x="2843784" y="578815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43784" y="5788152"/>
            <a:ext cx="134416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000" b="0">
                <a:solidFill>
                  <a:srgbClr val="FFFFFF"/>
                </a:solidFill>
                <a:latin typeface="Jost Medium"/>
              </a:rPr>
              <a:t>Vite, Tailwind</a:t>
            </a:r>
          </a:p>
        </p:txBody>
      </p:sp>
      <p:sp>
        <p:nvSpPr>
          <p:cNvPr id="23" name="Технология"/>
          <p:cNvSpPr/>
          <p:nvPr/>
        </p:nvSpPr>
        <p:spPr>
          <a:xfrm>
            <a:off x="4279392" y="5788152"/>
            <a:ext cx="864108" cy="29260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9392" y="5788152"/>
            <a:ext cx="8641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000" b="0">
                <a:solidFill>
                  <a:srgbClr val="FFFFFF"/>
                </a:solidFill>
                <a:latin typeface="Jost Medium"/>
              </a:rPr>
              <a:t>FastAPI</a:t>
            </a:r>
          </a:p>
        </p:txBody>
      </p:sp>
      <p:sp>
        <p:nvSpPr>
          <p:cNvPr id="25" name="Технология"/>
          <p:cNvSpPr/>
          <p:nvPr/>
        </p:nvSpPr>
        <p:spPr>
          <a:xfrm>
            <a:off x="5234940" y="5788152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34940" y="5788152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000" b="0">
                <a:solidFill>
                  <a:srgbClr val="FFFFFF"/>
                </a:solidFill>
                <a:latin typeface="Jost Medium"/>
              </a:rPr>
              <a:t>Jev через OpenRouter</a:t>
            </a:r>
          </a:p>
        </p:txBody>
      </p:sp>
      <p:sp>
        <p:nvSpPr>
          <p:cNvPr id="27" name="Технология"/>
          <p:cNvSpPr/>
          <p:nvPr/>
        </p:nvSpPr>
        <p:spPr>
          <a:xfrm>
            <a:off x="7082028" y="5788152"/>
            <a:ext cx="1549908" cy="29260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2028" y="5788152"/>
            <a:ext cx="15499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000" b="0">
                <a:solidFill>
                  <a:srgbClr val="FFFFFF"/>
                </a:solidFill>
                <a:latin typeface="Jost Medium"/>
              </a:rPr>
              <a:t>DeepSeek V4 Flash</a:t>
            </a:r>
          </a:p>
        </p:txBody>
      </p:sp>
      <p:sp>
        <p:nvSpPr>
          <p:cNvPr id="29" name="Технология"/>
          <p:cNvSpPr/>
          <p:nvPr/>
        </p:nvSpPr>
        <p:spPr>
          <a:xfrm>
            <a:off x="8723376" y="5788152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5788152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000" b="0">
                <a:solidFill>
                  <a:srgbClr val="FFFFFF"/>
                </a:solidFill>
                <a:latin typeface="Jost Medium"/>
              </a:rPr>
              <a:t>Playwright для 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Эффект</a:t>
            </a:r>
          </a:p>
        </p:txBody>
      </p:sp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08 / 11</a:t>
            </a:r>
          </a:p>
        </p:txBody>
      </p:sp>
      <p:sp>
        <p:nvSpPr>
          <p:cNvPr id="8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Минуты на выбор вместо часов</a:t>
            </a:r>
          </a:p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и меньше итераций проверки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sp>
        <p:nvSpPr>
          <p:cNvPr id="9" name="Карточка"/>
          <p:cNvSpPr/>
          <p:nvPr/>
        </p:nvSpPr>
        <p:spPr>
          <a:xfrm>
            <a:off x="566928" y="2359152"/>
            <a:ext cx="350215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</a:ln>
          <a:effectLst>
            <a:outerShdw blurRad="330200" dist="152400" dir="5400000" sx="94000" sy="94000" algn="t" rotWithShape="0">
              <a:srgbClr val="161628">
                <a:alpha val="14000"/>
              </a:srgbClr>
            </a:outerShdw>
          </a:effectLst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" name="Кромка"/>
          <p:cNvSpPr/>
          <p:nvPr/>
        </p:nvSpPr>
        <p:spPr>
          <a:xfrm>
            <a:off x="566928" y="2359152"/>
            <a:ext cx="3502152" cy="50292"/>
          </a:xfrm>
          <a:prstGeom prst="rect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33472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850" b="0" spc="-40">
                <a:solidFill>
                  <a:srgbClr val="161616"/>
                </a:solidFill>
                <a:latin typeface="Jost SemiBold"/>
              </a:rPr>
              <a:t>Быстрее 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072384"/>
            <a:ext cx="295351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Рейтинг четырёх типов сразу после ввода данных, без ручного сравнения вариантов.</a:t>
            </a:r>
          </a:p>
        </p:txBody>
      </p:sp>
      <p:cxnSp>
        <p:nvCxnSpPr>
          <p:cNvPr id="13" name="Линия"/>
          <p:cNvCxnSpPr/>
          <p:nvPr/>
        </p:nvCxnSpPr>
        <p:spPr>
          <a:xfrm>
            <a:off x="841248" y="4032504"/>
            <a:ext cx="2953512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41248" y="4151376"/>
            <a:ext cx="29535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050" b="0">
                <a:solidFill>
                  <a:srgbClr val="E03A42"/>
                </a:solidFill>
                <a:latin typeface="Jost Medium"/>
              </a:rPr>
              <a:t>Для компании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37083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300" b="0">
                <a:solidFill>
                  <a:srgbClr val="161616"/>
                </a:solidFill>
                <a:latin typeface="Jost Medium"/>
              </a:rPr>
              <a:t>Короче сроки разработки ПСД</a:t>
            </a:r>
          </a:p>
        </p:txBody>
      </p:sp>
      <p:sp>
        <p:nvSpPr>
          <p:cNvPr id="16" name="Карточка"/>
          <p:cNvSpPr/>
          <p:nvPr/>
        </p:nvSpPr>
        <p:spPr>
          <a:xfrm>
            <a:off x="4344772" y="2359152"/>
            <a:ext cx="350215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</a:ln>
          <a:effectLst>
            <a:outerShdw blurRad="330200" dist="152400" dir="5400000" sx="94000" sy="94000" algn="t" rotWithShape="0">
              <a:srgbClr val="161628">
                <a:alpha val="14000"/>
              </a:srgbClr>
            </a:outerShdw>
          </a:effectLst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7" name="Кромка"/>
          <p:cNvSpPr/>
          <p:nvPr/>
        </p:nvSpPr>
        <p:spPr>
          <a:xfrm>
            <a:off x="4344772" y="2359152"/>
            <a:ext cx="3502152" cy="50292"/>
          </a:xfrm>
          <a:prstGeom prst="rect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9092" y="2633472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850" b="0" spc="-40">
                <a:solidFill>
                  <a:srgbClr val="161616"/>
                </a:solidFill>
                <a:latin typeface="Jost SemiBold"/>
              </a:rPr>
              <a:t>Меньше итераций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092" y="3072384"/>
            <a:ext cx="295351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Каждый вердикт привязан к правилу справочника, поэтому ошибку подбора видно до проверки.</a:t>
            </a:r>
          </a:p>
        </p:txBody>
      </p:sp>
      <p:cxnSp>
        <p:nvCxnSpPr>
          <p:cNvPr id="20" name="Линия"/>
          <p:cNvCxnSpPr/>
          <p:nvPr/>
        </p:nvCxnSpPr>
        <p:spPr>
          <a:xfrm>
            <a:off x="4619092" y="4032504"/>
            <a:ext cx="2953512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619092" y="4151376"/>
            <a:ext cx="29535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050" b="0">
                <a:solidFill>
                  <a:srgbClr val="E03A42"/>
                </a:solidFill>
                <a:latin typeface="Jost Medium"/>
              </a:rPr>
              <a:t>Для компании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092" y="437083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300" b="0">
                <a:solidFill>
                  <a:srgbClr val="161616"/>
                </a:solidFill>
                <a:latin typeface="Jost Medium"/>
              </a:rPr>
              <a:t>Экономия трудозатрат проектировщиков</a:t>
            </a:r>
          </a:p>
        </p:txBody>
      </p:sp>
      <p:sp>
        <p:nvSpPr>
          <p:cNvPr id="23" name="Карточка"/>
          <p:cNvSpPr/>
          <p:nvPr/>
        </p:nvSpPr>
        <p:spPr>
          <a:xfrm>
            <a:off x="8122615" y="2359152"/>
            <a:ext cx="350215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</a:ln>
          <a:effectLst>
            <a:outerShdw blurRad="330200" dist="152400" dir="5400000" sx="94000" sy="94000" algn="t" rotWithShape="0">
              <a:srgbClr val="161628">
                <a:alpha val="14000"/>
              </a:srgbClr>
            </a:outerShdw>
          </a:effectLst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4" name="Кромка"/>
          <p:cNvSpPr/>
          <p:nvPr/>
        </p:nvSpPr>
        <p:spPr>
          <a:xfrm>
            <a:off x="8122615" y="2359152"/>
            <a:ext cx="3502152" cy="50292"/>
          </a:xfrm>
          <a:prstGeom prst="rect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6935" y="2633472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850" b="0" spc="-40">
                <a:solidFill>
                  <a:srgbClr val="161616"/>
                </a:solidFill>
                <a:latin typeface="Jost SemiBold"/>
              </a:rPr>
              <a:t>Учёт экономики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6935" y="3072384"/>
            <a:ext cx="295351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250" b="0">
                <a:solidFill>
                  <a:srgbClr val="3C3C42"/>
                </a:solidFill>
                <a:latin typeface="Jost"/>
              </a:rPr>
              <a:t>Ориентировочная стоимость и трудозатраты по региональным ценам на бетон, арматуру и земляные работы.</a:t>
            </a:r>
          </a:p>
        </p:txBody>
      </p:sp>
      <p:cxnSp>
        <p:nvCxnSpPr>
          <p:cNvPr id="27" name="Линия"/>
          <p:cNvCxnSpPr/>
          <p:nvPr/>
        </p:nvCxnSpPr>
        <p:spPr>
          <a:xfrm>
            <a:off x="8396935" y="4032504"/>
            <a:ext cx="2953512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396935" y="4151376"/>
            <a:ext cx="29535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050" b="0">
                <a:solidFill>
                  <a:srgbClr val="E03A42"/>
                </a:solidFill>
                <a:latin typeface="Jost Medium"/>
              </a:rPr>
              <a:t>Для компании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6935" y="437083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300" b="0">
                <a:solidFill>
                  <a:srgbClr val="161616"/>
                </a:solidFill>
                <a:latin typeface="Jost Medium"/>
              </a:rPr>
              <a:t>Ниже сметная стоимость фундамента: выгода для заказчика</a:t>
            </a:r>
          </a:p>
        </p:txBody>
      </p:sp>
      <p:sp>
        <p:nvSpPr>
          <p:cNvPr id="30" name="Вывод"/>
          <p:cNvSpPr/>
          <p:nvPr/>
        </p:nvSpPr>
        <p:spPr>
          <a:xfrm>
            <a:off x="566928" y="5193792"/>
            <a:ext cx="11057839" cy="932688"/>
          </a:xfrm>
          <a:prstGeom prst="rect">
            <a:avLst/>
          </a:prstGeom>
          <a:solidFill>
            <a:srgbClr val="FFFAFA"/>
          </a:solidFill>
          <a:ln w="9525">
            <a:solidFill>
              <a:srgbClr val="E2E2E6"/>
            </a:solidFill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1" name="Вывод"/>
          <p:cNvSpPr/>
          <p:nvPr/>
        </p:nvSpPr>
        <p:spPr>
          <a:xfrm>
            <a:off x="566928" y="5193792"/>
            <a:ext cx="41148" cy="932688"/>
          </a:xfrm>
          <a:prstGeom prst="rect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2" name="Вывод"/>
          <p:cNvSpPr txBox="1"/>
          <p:nvPr/>
        </p:nvSpPr>
        <p:spPr>
          <a:xfrm>
            <a:off x="841248" y="5193792"/>
            <a:ext cx="10554919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ru-RU" sz="1350" b="0">
                <a:solidFill>
                  <a:srgbClr val="161616"/>
                </a:solidFill>
                <a:latin typeface="Jost SemiBold"/>
              </a:rPr>
              <a:t>Что измерим на пилоте: </a:t>
            </a:r>
            <a:r>
              <a:rPr lang="ru-RU" sz="1350" b="0">
                <a:solidFill>
                  <a:srgbClr val="161616"/>
                </a:solidFill>
                <a:latin typeface="Jost"/>
              </a:rPr>
              <a:t>время выбора типа фундамента, число итераций проверки и отклонение сметы.</a:t>
            </a:r>
          </a:p>
          <a:p>
            <a:pPr algn="l">
              <a:lnSpc>
                <a:spcPct val="112000"/>
              </a:lnSpc>
            </a:pPr>
            <a:r>
              <a:rPr lang="ru-RU" sz="1200" b="0">
                <a:solidFill>
                  <a:srgbClr val="6A6A70"/>
                </a:solidFill>
                <a:latin typeface="Jost"/>
              </a:rPr>
              <a:t>Замеров пока нет, поэтому цифр эффекта не приводим.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План</a:t>
            </a:r>
          </a:p>
        </p:txBody>
      </p:sp>
      <p:sp>
        <p:nvSpPr>
          <p:cNvPr id="3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09 / 11</a:t>
            </a:r>
          </a:p>
        </p:txBody>
      </p:sp>
      <p:sp>
        <p:nvSpPr>
          <p:cNvPr id="8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Следующий шаг: пилот</a:t>
            </a:r>
          </a:p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к строительному сезону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cxnSp>
        <p:nvCxnSpPr>
          <p:cNvPr id="9" name="Линия"/>
          <p:cNvCxnSpPr/>
          <p:nvPr/>
        </p:nvCxnSpPr>
        <p:spPr>
          <a:xfrm>
            <a:off x="566928" y="2651760"/>
            <a:ext cx="11057839" cy="0"/>
          </a:xfrm>
          <a:prstGeom prst="line">
            <a:avLst/>
          </a:prstGeom>
          <a:ln w="28575">
            <a:solidFill>
              <a:srgbClr val="E2E2E6"/>
            </a:solidFill>
          </a:ln>
        </p:spPr>
      </p:cxnSp>
      <p:cxnSp>
        <p:nvCxnSpPr>
          <p:cNvPr id="10" name="Линия"/>
          <p:cNvCxnSpPr/>
          <p:nvPr/>
        </p:nvCxnSpPr>
        <p:spPr>
          <a:xfrm>
            <a:off x="566928" y="2651760"/>
            <a:ext cx="3933292" cy="0"/>
          </a:xfrm>
          <a:prstGeom prst="line">
            <a:avLst/>
          </a:prstGeom>
          <a:ln w="28575">
            <a:solidFill>
              <a:srgbClr val="E03A42"/>
            </a:solidFill>
          </a:ln>
        </p:spPr>
      </p:cxnSp>
      <p:sp>
        <p:nvSpPr>
          <p:cNvPr id="11" name="Этап готов"/>
          <p:cNvSpPr/>
          <p:nvPr/>
        </p:nvSpPr>
        <p:spPr>
          <a:xfrm>
            <a:off x="566928" y="2496312"/>
            <a:ext cx="310896" cy="310896"/>
          </a:xfrm>
          <a:prstGeom prst="ellipse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653796" y="2601468"/>
            <a:ext cx="141732" cy="105156"/>
          </a:xfrm>
          <a:custGeom>
            <a:avLst/>
            <a:gdLst/>
            <a:ahLst/>
            <a:cxnLst/>
            <a:rect l="l" t="t" r="r" b="b"/>
            <a:pathLst>
              <a:path w="141732" h="105156">
                <a:moveTo>
                  <a:pt x="0" y="54864"/>
                </a:moveTo>
                <a:lnTo>
                  <a:pt x="50292" y="105156"/>
                </a:lnTo>
                <a:lnTo>
                  <a:pt x="141732" y="0"/>
                </a:lnTo>
              </a:path>
            </a:pathLst>
          </a:custGeom>
          <a:noFill/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3502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050" b="0">
                <a:solidFill>
                  <a:srgbClr val="6A6A70"/>
                </a:solidFill>
                <a:latin typeface="IBM Plex Mono"/>
              </a:rPr>
              <a:t>Сейчас: хакатон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10128"/>
            <a:ext cx="350215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2100" b="0" spc="-50">
                <a:solidFill>
                  <a:srgbClr val="161616"/>
                </a:solidFill>
                <a:latin typeface="Jost SemiBold"/>
              </a:rPr>
              <a:t>MVP готов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94760"/>
            <a:ext cx="3273552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350" b="0">
                <a:solidFill>
                  <a:srgbClr val="3C3C42"/>
                </a:solidFill>
                <a:latin typeface="Jost"/>
              </a:rPr>
              <a:t>Форма ввода, оценка 4 типов через Jev, объяснения DeepSeek, отчёт для инженера.</a:t>
            </a:r>
          </a:p>
        </p:txBody>
      </p:sp>
      <p:sp>
        <p:nvSpPr>
          <p:cNvPr id="16" name="Этап"/>
          <p:cNvSpPr/>
          <p:nvPr/>
        </p:nvSpPr>
        <p:spPr>
          <a:xfrm>
            <a:off x="4344772" y="24963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1616"/>
            </a:solidFill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7" name="Этап"/>
          <p:cNvSpPr/>
          <p:nvPr/>
        </p:nvSpPr>
        <p:spPr>
          <a:xfrm>
            <a:off x="4440784" y="2592324"/>
            <a:ext cx="118872" cy="118872"/>
          </a:xfrm>
          <a:prstGeom prst="ellipse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4772" y="3017520"/>
            <a:ext cx="3502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050" b="0">
                <a:solidFill>
                  <a:srgbClr val="6A6A70"/>
                </a:solidFill>
                <a:latin typeface="IBM Plex Mono"/>
              </a:rPr>
              <a:t>Следующий этап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4772" y="3310128"/>
            <a:ext cx="350215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2100" b="0" spc="-50">
                <a:solidFill>
                  <a:srgbClr val="161616"/>
                </a:solidFill>
                <a:latin typeface="Jost SemiBold"/>
              </a:rPr>
              <a:t>Пилот с заказчиком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4772" y="3794760"/>
            <a:ext cx="3273552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350" b="0">
                <a:solidFill>
                  <a:srgbClr val="3C3C42"/>
                </a:solidFill>
                <a:latin typeface="Jost"/>
              </a:rPr>
              <a:t>Стоимость и трудозатраты в интерфейсе, цены из ФГИС ЦС, замер времени и числа итераций проверки.</a:t>
            </a:r>
          </a:p>
        </p:txBody>
      </p:sp>
      <p:sp>
        <p:nvSpPr>
          <p:cNvPr id="21" name="Этап"/>
          <p:cNvSpPr/>
          <p:nvPr/>
        </p:nvSpPr>
        <p:spPr>
          <a:xfrm>
            <a:off x="8122615" y="24963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C9D1"/>
            </a:solidFill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22615" y="3017520"/>
            <a:ext cx="3502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050" b="0">
                <a:solidFill>
                  <a:srgbClr val="6A6A70"/>
                </a:solidFill>
                <a:latin typeface="IBM Plex Mono"/>
              </a:rPr>
              <a:t>Дальше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2615" y="3310128"/>
            <a:ext cx="350215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2100" b="0" spc="-50">
                <a:solidFill>
                  <a:srgbClr val="161616"/>
                </a:solidFill>
                <a:latin typeface="Jost SemiBold"/>
              </a:rPr>
              <a:t>Масштабирование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2615" y="3794760"/>
            <a:ext cx="3273552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1350" b="0">
                <a:solidFill>
                  <a:srgbClr val="3C3C42"/>
                </a:solidFill>
                <a:latin typeface="Jost"/>
              </a:rPr>
              <a:t>Слои грунта и нагрузки, комбинированные фундаменты, выгрузка в ТИМ и интеграция с САПР.</a:t>
            </a:r>
          </a:p>
        </p:txBody>
      </p:sp>
      <p:sp>
        <p:nvSpPr>
          <p:cNvPr id="25" name="Вывод"/>
          <p:cNvSpPr/>
          <p:nvPr/>
        </p:nvSpPr>
        <p:spPr>
          <a:xfrm>
            <a:off x="566928" y="5193792"/>
            <a:ext cx="11057839" cy="932688"/>
          </a:xfrm>
          <a:prstGeom prst="rect">
            <a:avLst/>
          </a:prstGeom>
          <a:solidFill>
            <a:srgbClr val="FFFAFA"/>
          </a:solidFill>
          <a:ln w="9525">
            <a:solidFill>
              <a:srgbClr val="E2E2E6"/>
            </a:solidFill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6" name="Вывод"/>
          <p:cNvSpPr/>
          <p:nvPr/>
        </p:nvSpPr>
        <p:spPr>
          <a:xfrm>
            <a:off x="566928" y="5193792"/>
            <a:ext cx="41148" cy="932688"/>
          </a:xfrm>
          <a:prstGeom prst="rect">
            <a:avLst/>
          </a:prstGeom>
          <a:solidFill>
            <a:srgbClr val="E03A42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7" name="Вывод"/>
          <p:cNvSpPr txBox="1"/>
          <p:nvPr/>
        </p:nvSpPr>
        <p:spPr>
          <a:xfrm>
            <a:off x="841248" y="5193792"/>
            <a:ext cx="10554919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ru-RU" sz="1350" b="0">
                <a:solidFill>
                  <a:srgbClr val="161616"/>
                </a:solidFill>
                <a:latin typeface="Jost SemiBold"/>
              </a:rPr>
              <a:t>Пилот запускаем к началу строительного сезона: </a:t>
            </a:r>
            <a:r>
              <a:rPr lang="ru-RU" sz="1350" b="0">
                <a:solidFill>
                  <a:srgbClr val="161616"/>
                </a:solidFill>
                <a:latin typeface="Jost"/>
              </a:rPr>
              <a:t>пик интереса к фундаментам приходится на апрель–май.</a:t>
            </a:r>
          </a:p>
          <a:p>
            <a:pPr algn="l">
              <a:lnSpc>
                <a:spcPct val="112000"/>
              </a:lnSpc>
            </a:pPr>
            <a:r>
              <a:rPr lang="ru-RU" sz="950" b="0">
                <a:solidFill>
                  <a:srgbClr val="6A6A70"/>
                </a:solidFill>
                <a:latin typeface="IBM Plex Mono"/>
              </a:rPr>
              <a:t>Сезонность спроса: Google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Фоновое слово"/>
          <p:cNvSpPr txBox="1"/>
          <p:nvPr/>
        </p:nvSpPr>
        <p:spPr>
          <a:xfrm>
            <a:off x="365760" y="45720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3200" b="1" cap="all" spc="-264">
                <a:solidFill>
                  <a:srgbClr val="F2F2F4"/>
                </a:solidFill>
                <a:latin typeface="Jost"/>
              </a:rPr>
              <a:t>Команда</a:t>
            </a:r>
          </a:p>
        </p:txBody>
      </p:sp>
      <p:sp>
        <p:nvSpPr>
          <p:cNvPr id="8" name="Четверть круга"/>
          <p:cNvSpPr/>
          <p:nvPr/>
        </p:nvSpPr>
        <p:spPr>
          <a:xfrm>
            <a:off x="11002975" y="0"/>
            <a:ext cx="1188720" cy="1188720"/>
          </a:xfrm>
          <a:custGeom>
            <a:avLst/>
            <a:gdLst/>
            <a:ahLst/>
            <a:cxnLst/>
            <a:rect l="0" t="0" r="r" b="b"/>
            <a:pathLst>
              <a:path w="1188720" h="1188720">
                <a:moveTo>
                  <a:pt x="1188720" y="0"/>
                </a:moveTo>
                <a:lnTo>
                  <a:pt x="0" y="0"/>
                </a:lnTo>
                <a:arcTo wR="1188720" hR="11887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9" name="Логотип"/>
          <p:cNvSpPr/>
          <p:nvPr/>
        </p:nvSpPr>
        <p:spPr>
          <a:xfrm>
            <a:off x="566928" y="384048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" name="Логотип"/>
          <p:cNvSpPr/>
          <p:nvPr/>
        </p:nvSpPr>
        <p:spPr>
          <a:xfrm>
            <a:off x="690372" y="507492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1" name="Название"/>
          <p:cNvSpPr txBox="1"/>
          <p:nvPr/>
        </p:nvSpPr>
        <p:spPr>
          <a:xfrm>
            <a:off x="832104" y="3703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12" name="Номер слайда"/>
          <p:cNvSpPr txBox="1"/>
          <p:nvPr/>
        </p:nvSpPr>
        <p:spPr>
          <a:xfrm>
            <a:off x="9613087" y="6400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>
                <a:solidFill>
                  <a:srgbClr val="6A6A70"/>
                </a:solidFill>
                <a:latin typeface="IBM Plex Mono"/>
              </a:rPr>
              <a:t>10 / 11</a:t>
            </a:r>
          </a:p>
        </p:txBody>
      </p:sp>
      <p:sp>
        <p:nvSpPr>
          <p:cNvPr id="13" name="Заголовок"/>
          <p:cNvSpPr txBox="1"/>
          <p:nvPr/>
        </p:nvSpPr>
        <p:spPr>
          <a:xfrm>
            <a:off x="566928" y="1024128"/>
            <a:ext cx="95097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3400" b="0" spc="-102">
                <a:solidFill>
                  <a:srgbClr val="161616"/>
                </a:solidFill>
                <a:latin typeface="Jost SemiBold"/>
              </a:rPr>
              <a:t>Команда проекта</a:t>
            </a:r>
            <a:r>
              <a:rPr lang="ru-RU" sz="3400" b="0" spc="-102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pic>
        <p:nvPicPr>
          <p:cNvPr id="14" name="Рамка: Михаил Богомолов" descr="stage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0"/>
            <a:ext cx="1991563" cy="2487168"/>
          </a:xfrm>
          <a:prstGeom prst="rect">
            <a:avLst/>
          </a:prstGeom>
          <a:ln w="9525">
            <a:solidFill>
              <a:srgbClr val="E2E2E6"/>
            </a:solidFill>
          </a:ln>
        </p:spPr>
      </p:pic>
      <p:sp>
        <p:nvSpPr>
          <p:cNvPr id="15" name="Силуэт"/>
          <p:cNvSpPr/>
          <p:nvPr/>
        </p:nvSpPr>
        <p:spPr>
          <a:xfrm>
            <a:off x="1260958" y="2852928"/>
            <a:ext cx="603504" cy="603504"/>
          </a:xfrm>
          <a:prstGeom prst="ellipse">
            <a:avLst/>
          </a:pr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6" name="Силуэт"/>
          <p:cNvSpPr/>
          <p:nvPr/>
        </p:nvSpPr>
        <p:spPr>
          <a:xfrm>
            <a:off x="876910" y="3931920"/>
            <a:ext cx="1371600" cy="749808"/>
          </a:xfrm>
          <a:custGeom>
            <a:avLst/>
            <a:gdLst/>
            <a:ahLst/>
            <a:cxnLst/>
            <a:rect l="0" t="0" r="r" b="b"/>
            <a:pathLst>
              <a:path w="1371600" h="749808">
                <a:moveTo>
                  <a:pt x="0" y="749808"/>
                </a:moveTo>
                <a:lnTo>
                  <a:pt x="0" y="685800"/>
                </a:lnTo>
                <a:arcTo wR="685800" hR="685800" stAng="10800000" swAng="10800000"/>
                <a:lnTo>
                  <a:pt x="1371600" y="749808"/>
                </a:lnTo>
                <a:close/>
              </a:path>
            </a:pathLst>
          </a:cu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956048"/>
            <a:ext cx="199156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Михаил</a:t>
            </a:r>
          </a:p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Богомолов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14416"/>
            <a:ext cx="19915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6A6A70"/>
                </a:solidFill>
                <a:latin typeface="Jost"/>
              </a:rPr>
              <a:t>Бэкенд, разработка</a:t>
            </a:r>
          </a:p>
        </p:txBody>
      </p:sp>
      <p:pic>
        <p:nvPicPr>
          <p:cNvPr id="19" name="Рамка: Илья Аверкин" descr="stage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811" y="2194560"/>
            <a:ext cx="1991563" cy="2487168"/>
          </a:xfrm>
          <a:prstGeom prst="rect">
            <a:avLst/>
          </a:prstGeom>
          <a:ln w="9525">
            <a:solidFill>
              <a:srgbClr val="E2E2E6"/>
            </a:solidFill>
          </a:ln>
        </p:spPr>
      </p:pic>
      <p:sp>
        <p:nvSpPr>
          <p:cNvPr id="20" name="Силуэт"/>
          <p:cNvSpPr/>
          <p:nvPr/>
        </p:nvSpPr>
        <p:spPr>
          <a:xfrm>
            <a:off x="3526841" y="2852928"/>
            <a:ext cx="603504" cy="603504"/>
          </a:xfrm>
          <a:prstGeom prst="ellipse">
            <a:avLst/>
          </a:pr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1" name="Силуэт"/>
          <p:cNvSpPr/>
          <p:nvPr/>
        </p:nvSpPr>
        <p:spPr>
          <a:xfrm>
            <a:off x="3142793" y="3931920"/>
            <a:ext cx="1371600" cy="749808"/>
          </a:xfrm>
          <a:custGeom>
            <a:avLst/>
            <a:gdLst/>
            <a:ahLst/>
            <a:cxnLst/>
            <a:rect l="0" t="0" r="r" b="b"/>
            <a:pathLst>
              <a:path w="1371600" h="749808">
                <a:moveTo>
                  <a:pt x="0" y="749808"/>
                </a:moveTo>
                <a:lnTo>
                  <a:pt x="0" y="685800"/>
                </a:lnTo>
                <a:arcTo wR="685800" hR="685800" stAng="10800000" swAng="10800000"/>
                <a:lnTo>
                  <a:pt x="1371600" y="749808"/>
                </a:lnTo>
                <a:close/>
              </a:path>
            </a:pathLst>
          </a:cu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2811" y="4956048"/>
            <a:ext cx="199156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Илья</a:t>
            </a:r>
          </a:p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Аверкин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2811" y="5614416"/>
            <a:ext cx="19915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6A6A70"/>
                </a:solidFill>
                <a:latin typeface="Jost"/>
              </a:rPr>
              <a:t>Фронтенд, разработка</a:t>
            </a:r>
          </a:p>
        </p:txBody>
      </p:sp>
      <p:pic>
        <p:nvPicPr>
          <p:cNvPr id="24" name="Рамка: Ярослав Мещанов" descr="stage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694" y="2194560"/>
            <a:ext cx="1991563" cy="2487168"/>
          </a:xfrm>
          <a:prstGeom prst="rect">
            <a:avLst/>
          </a:prstGeom>
          <a:ln w="9525">
            <a:solidFill>
              <a:srgbClr val="E2E2E6"/>
            </a:solidFill>
          </a:ln>
        </p:spPr>
      </p:pic>
      <p:sp>
        <p:nvSpPr>
          <p:cNvPr id="25" name="Силуэт"/>
          <p:cNvSpPr/>
          <p:nvPr/>
        </p:nvSpPr>
        <p:spPr>
          <a:xfrm>
            <a:off x="5792724" y="2852928"/>
            <a:ext cx="603504" cy="603504"/>
          </a:xfrm>
          <a:prstGeom prst="ellipse">
            <a:avLst/>
          </a:pr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6" name="Силуэт"/>
          <p:cNvSpPr/>
          <p:nvPr/>
        </p:nvSpPr>
        <p:spPr>
          <a:xfrm>
            <a:off x="5408676" y="3931920"/>
            <a:ext cx="1371600" cy="749808"/>
          </a:xfrm>
          <a:custGeom>
            <a:avLst/>
            <a:gdLst/>
            <a:ahLst/>
            <a:cxnLst/>
            <a:rect l="0" t="0" r="r" b="b"/>
            <a:pathLst>
              <a:path w="1371600" h="749808">
                <a:moveTo>
                  <a:pt x="0" y="749808"/>
                </a:moveTo>
                <a:lnTo>
                  <a:pt x="0" y="685800"/>
                </a:lnTo>
                <a:arcTo wR="685800" hR="685800" stAng="10800000" swAng="10800000"/>
                <a:lnTo>
                  <a:pt x="1371600" y="749808"/>
                </a:lnTo>
                <a:close/>
              </a:path>
            </a:pathLst>
          </a:cu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98694" y="4956048"/>
            <a:ext cx="199156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Ярослав</a:t>
            </a:r>
          </a:p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Мещанов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8694" y="5614416"/>
            <a:ext cx="19915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6A6A70"/>
                </a:solidFill>
                <a:latin typeface="Jost"/>
              </a:rPr>
              <a:t>Рыночный анализ</a:t>
            </a:r>
          </a:p>
        </p:txBody>
      </p:sp>
      <p:pic>
        <p:nvPicPr>
          <p:cNvPr id="29" name="Рамка: Кирилл Кудряшов" descr="stage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578" y="2194560"/>
            <a:ext cx="1991563" cy="2487168"/>
          </a:xfrm>
          <a:prstGeom prst="rect">
            <a:avLst/>
          </a:prstGeom>
          <a:ln w="9525">
            <a:solidFill>
              <a:srgbClr val="E2E2E6"/>
            </a:solidFill>
          </a:ln>
        </p:spPr>
      </p:pic>
      <p:sp>
        <p:nvSpPr>
          <p:cNvPr id="30" name="Силуэт"/>
          <p:cNvSpPr/>
          <p:nvPr/>
        </p:nvSpPr>
        <p:spPr>
          <a:xfrm>
            <a:off x="8058607" y="2852928"/>
            <a:ext cx="603504" cy="603504"/>
          </a:xfrm>
          <a:prstGeom prst="ellipse">
            <a:avLst/>
          </a:pr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1" name="Силуэт"/>
          <p:cNvSpPr/>
          <p:nvPr/>
        </p:nvSpPr>
        <p:spPr>
          <a:xfrm>
            <a:off x="7674559" y="3931920"/>
            <a:ext cx="1371600" cy="749808"/>
          </a:xfrm>
          <a:custGeom>
            <a:avLst/>
            <a:gdLst/>
            <a:ahLst/>
            <a:cxnLst/>
            <a:rect l="0" t="0" r="r" b="b"/>
            <a:pathLst>
              <a:path w="1371600" h="749808">
                <a:moveTo>
                  <a:pt x="0" y="749808"/>
                </a:moveTo>
                <a:lnTo>
                  <a:pt x="0" y="685800"/>
                </a:lnTo>
                <a:arcTo wR="685800" hR="685800" stAng="10800000" swAng="10800000"/>
                <a:lnTo>
                  <a:pt x="1371600" y="749808"/>
                </a:lnTo>
                <a:close/>
              </a:path>
            </a:pathLst>
          </a:cu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4578" y="4956048"/>
            <a:ext cx="199156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Кирилл</a:t>
            </a:r>
          </a:p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Кудряшов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4578" y="5614416"/>
            <a:ext cx="19915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6A6A70"/>
                </a:solidFill>
                <a:latin typeface="Jost"/>
              </a:rPr>
              <a:t>Анализ макротрендов</a:t>
            </a:r>
          </a:p>
        </p:txBody>
      </p:sp>
      <p:pic>
        <p:nvPicPr>
          <p:cNvPr id="34" name="Рамка: Иван Тихненко" descr="stage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461" y="2194560"/>
            <a:ext cx="1991563" cy="2487168"/>
          </a:xfrm>
          <a:prstGeom prst="rect">
            <a:avLst/>
          </a:prstGeom>
          <a:ln w="9525">
            <a:solidFill>
              <a:srgbClr val="E2E2E6"/>
            </a:solidFill>
          </a:ln>
        </p:spPr>
      </p:pic>
      <p:sp>
        <p:nvSpPr>
          <p:cNvPr id="35" name="Силуэт"/>
          <p:cNvSpPr/>
          <p:nvPr/>
        </p:nvSpPr>
        <p:spPr>
          <a:xfrm>
            <a:off x="10324490" y="2852928"/>
            <a:ext cx="603504" cy="603504"/>
          </a:xfrm>
          <a:prstGeom prst="ellipse">
            <a:avLst/>
          </a:pr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6" name="Силуэт"/>
          <p:cNvSpPr/>
          <p:nvPr/>
        </p:nvSpPr>
        <p:spPr>
          <a:xfrm>
            <a:off x="9940442" y="3931920"/>
            <a:ext cx="1371600" cy="749808"/>
          </a:xfrm>
          <a:custGeom>
            <a:avLst/>
            <a:gdLst/>
            <a:ahLst/>
            <a:cxnLst/>
            <a:rect l="0" t="0" r="r" b="b"/>
            <a:pathLst>
              <a:path w="1371600" h="749808">
                <a:moveTo>
                  <a:pt x="0" y="749808"/>
                </a:moveTo>
                <a:lnTo>
                  <a:pt x="0" y="685800"/>
                </a:lnTo>
                <a:arcTo wR="685800" hR="685800" stAng="10800000" swAng="10800000"/>
                <a:lnTo>
                  <a:pt x="1371600" y="749808"/>
                </a:lnTo>
                <a:close/>
              </a:path>
            </a:pathLst>
          </a:custGeom>
          <a:solidFill>
            <a:srgbClr val="E6E6EA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30461" y="4956048"/>
            <a:ext cx="199156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Иван</a:t>
            </a:r>
          </a:p>
          <a:p>
            <a:pPr algn="l">
              <a:lnSpc>
                <a:spcPct val="98000"/>
              </a:lnSpc>
            </a:pPr>
            <a:r>
              <a:rPr lang="ru-RU" sz="1700" b="0" spc="-30">
                <a:solidFill>
                  <a:srgbClr val="161616"/>
                </a:solidFill>
                <a:latin typeface="Jost SemiBold"/>
              </a:rPr>
              <a:t>Тихненко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0461" y="5614416"/>
            <a:ext cx="19915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50" b="0">
                <a:solidFill>
                  <a:srgbClr val="6A6A70"/>
                </a:solidFill>
                <a:latin typeface="Jost"/>
              </a:rPr>
              <a:t>Идеи и отчётность</a:t>
            </a:r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905C984D-346B-4204-B6D9-4967C40D864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9955" r="9955"/>
          <a:stretch>
            <a:fillRect/>
          </a:stretch>
        </p:blipFill>
        <p:spPr/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08F2534C-912A-4A31-B8E5-E99B69A563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t="18303" b="18303"/>
          <a:stretch>
            <a:fillRect/>
          </a:stretch>
        </p:blipFill>
        <p:spPr/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48231FD-37F4-4FEE-A9CE-905CCF51066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/>
          <a:srcRect t="3177" b="3177"/>
          <a:stretch>
            <a:fillRect/>
          </a:stretch>
        </p:blipFill>
        <p:spPr>
          <a:xfrm>
            <a:off x="566738" y="2193925"/>
            <a:ext cx="1992312" cy="2487613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63A69730-68DE-4E40-A51A-810AB22FBC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/>
          <a:srcRect t="3177" b="3177"/>
          <a:stretch>
            <a:fillRect/>
          </a:stretch>
        </p:blipFill>
        <p:spPr>
          <a:xfrm>
            <a:off x="7364413" y="2193925"/>
            <a:ext cx="1992312" cy="2487613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EBBD06A-1081-4DC2-A7AF-F5CED1A7676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8"/>
          <a:srcRect t="3177" b="3177"/>
          <a:stretch>
            <a:fillRect/>
          </a:stretch>
        </p:blipFill>
        <p:spPr>
          <a:xfrm>
            <a:off x="9629775" y="2193925"/>
            <a:ext cx="1992313" cy="24876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Четверть круга"/>
          <p:cNvSpPr/>
          <p:nvPr/>
        </p:nvSpPr>
        <p:spPr>
          <a:xfrm>
            <a:off x="9174175" y="0"/>
            <a:ext cx="3017520" cy="3017520"/>
          </a:xfrm>
          <a:custGeom>
            <a:avLst/>
            <a:gdLst/>
            <a:ahLst/>
            <a:cxnLst/>
            <a:rect l="0" t="0" r="r" b="b"/>
            <a:pathLst>
              <a:path w="3017520" h="3017520">
                <a:moveTo>
                  <a:pt x="3017520" y="0"/>
                </a:moveTo>
                <a:lnTo>
                  <a:pt x="0" y="0"/>
                </a:lnTo>
                <a:arcTo wR="3017520" hR="3017520" stAng="10800000" swAng="-5400000"/>
                <a:close/>
              </a:path>
            </a:pathLst>
          </a:cu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3" name="Точки" descr="backdrop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4440" y="3017520"/>
            <a:ext cx="2468880" cy="3840480"/>
          </a:xfrm>
          <a:prstGeom prst="rect">
            <a:avLst/>
          </a:prstGeom>
        </p:spPr>
      </p:pic>
      <p:sp>
        <p:nvSpPr>
          <p:cNvPr id="4" name="Лист"/>
          <p:cNvSpPr/>
          <p:nvPr/>
        </p:nvSpPr>
        <p:spPr>
          <a:xfrm>
            <a:off x="868680" y="475488"/>
            <a:ext cx="10454335" cy="64739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98500" dist="330200" dir="5400000" sx="96000" sy="96000" algn="t" rotWithShape="0">
              <a:srgbClr val="161628">
                <a:alpha val="22000"/>
              </a:srgbClr>
            </a:outerShdw>
          </a:effectLst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Фоновое слово"/>
          <p:cNvSpPr txBox="1"/>
          <p:nvPr/>
        </p:nvSpPr>
        <p:spPr>
          <a:xfrm>
            <a:off x="1170432" y="1097280"/>
            <a:ext cx="14630400" cy="2377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ru-RU" sz="19000" b="1" cap="all" spc="-380">
                <a:solidFill>
                  <a:srgbClr val="F2F2F4"/>
                </a:solidFill>
                <a:latin typeface="Jost"/>
              </a:rPr>
              <a:t>Итог</a:t>
            </a:r>
          </a:p>
        </p:txBody>
      </p:sp>
      <p:sp>
        <p:nvSpPr>
          <p:cNvPr id="6" name="Логотип"/>
          <p:cNvSpPr/>
          <p:nvPr/>
        </p:nvSpPr>
        <p:spPr>
          <a:xfrm>
            <a:off x="1371600" y="868680"/>
            <a:ext cx="123444" cy="2468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7" name="Логотип"/>
          <p:cNvSpPr/>
          <p:nvPr/>
        </p:nvSpPr>
        <p:spPr>
          <a:xfrm>
            <a:off x="1495044" y="992124"/>
            <a:ext cx="82296" cy="123444"/>
          </a:xfrm>
          <a:prstGeom prst="rect">
            <a:avLst/>
          </a:prstGeom>
          <a:solidFill>
            <a:srgbClr val="FF4F55"/>
          </a:solidFill>
          <a:ln>
            <a:noFill/>
          </a:ln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8" name="Название"/>
          <p:cNvSpPr txBox="1"/>
          <p:nvPr/>
        </p:nvSpPr>
        <p:spPr>
          <a:xfrm>
            <a:off x="1636776" y="8549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50" b="0">
                <a:solidFill>
                  <a:srgbClr val="161616"/>
                </a:solidFill>
                <a:latin typeface="Jost SemiBold"/>
              </a:rPr>
              <a:t>Фундамент</a:t>
            </a:r>
          </a:p>
        </p:txBody>
      </p:sp>
      <p:sp>
        <p:nvSpPr>
          <p:cNvPr id="9" name="Хакатон"/>
          <p:cNvSpPr txBox="1"/>
          <p:nvPr/>
        </p:nvSpPr>
        <p:spPr>
          <a:xfrm>
            <a:off x="5669280" y="854964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ru-RU" sz="1050" b="0">
                <a:solidFill>
                  <a:srgbClr val="6A6A70"/>
                </a:solidFill>
                <a:latin typeface="IBM Plex Mono"/>
              </a:rPr>
              <a:t>Стартап-хакатон «Пятый элемент» 2026</a:t>
            </a:r>
          </a:p>
        </p:txBody>
      </p:sp>
      <p:cxnSp>
        <p:nvCxnSpPr>
          <p:cNvPr id="10" name="Линия"/>
          <p:cNvCxnSpPr/>
          <p:nvPr/>
        </p:nvCxnSpPr>
        <p:spPr>
          <a:xfrm>
            <a:off x="1371600" y="5760720"/>
            <a:ext cx="9445752" cy="0"/>
          </a:xfrm>
          <a:prstGeom prst="line">
            <a:avLst/>
          </a:prstGeom>
          <a:ln w="9525">
            <a:solidFill>
              <a:srgbClr val="E2E2E6"/>
            </a:solidFill>
          </a:ln>
        </p:spPr>
      </p:cxnSp>
      <p:pic>
        <p:nvPicPr>
          <p:cNvPr id="11" name="Партнёры" descr="logos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6053328"/>
            <a:ext cx="5852160" cy="353643"/>
          </a:xfrm>
          <a:prstGeom prst="rect">
            <a:avLst/>
          </a:prstGeom>
        </p:spPr>
      </p:pic>
      <p:sp>
        <p:nvSpPr>
          <p:cNvPr id="12" name="Заголовок"/>
          <p:cNvSpPr txBox="1"/>
          <p:nvPr/>
        </p:nvSpPr>
        <p:spPr>
          <a:xfrm>
            <a:off x="1371600" y="173736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lang="ru-RU" sz="5000" b="0" spc="-150">
                <a:solidFill>
                  <a:srgbClr val="161616"/>
                </a:solidFill>
                <a:latin typeface="Jost SemiBold"/>
              </a:rPr>
              <a:t>Фундамент за минуты</a:t>
            </a:r>
          </a:p>
          <a:p>
            <a:pPr algn="l">
              <a:lnSpc>
                <a:spcPct val="93000"/>
              </a:lnSpc>
            </a:pPr>
            <a:r>
              <a:rPr lang="ru-RU" sz="5000" b="0" spc="-150">
                <a:solidFill>
                  <a:srgbClr val="161616"/>
                </a:solidFill>
                <a:latin typeface="Jost SemiBold"/>
              </a:rPr>
              <a:t>и с прозрачным</a:t>
            </a:r>
          </a:p>
          <a:p>
            <a:pPr algn="l">
              <a:lnSpc>
                <a:spcPct val="93000"/>
              </a:lnSpc>
            </a:pPr>
            <a:r>
              <a:rPr lang="ru-RU" sz="5000" b="0" spc="-150">
                <a:solidFill>
                  <a:srgbClr val="161616"/>
                </a:solidFill>
                <a:latin typeface="Jost SemiBold"/>
              </a:rPr>
              <a:t>обоснованием</a:t>
            </a:r>
            <a:r>
              <a:rPr lang="ru-RU" sz="5000" b="0" spc="-150">
                <a:solidFill>
                  <a:srgbClr val="E03A42"/>
                </a:solidFill>
                <a:latin typeface="Jost SemiBol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2200" b="0" spc="-40">
                <a:solidFill>
                  <a:srgbClr val="161616"/>
                </a:solidFill>
                <a:latin typeface="Jost SemiBold"/>
              </a:rPr>
              <a:t>Спасибо за внимание!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ru-RU" sz="1200" b="0">
                <a:solidFill>
                  <a:srgbClr val="6A6A70"/>
                </a:solidFill>
                <a:latin typeface="IBM Plex Mono"/>
              </a:rPr>
              <a:t>Готовы показать продукт и ответить на вопросы.</a:t>
            </a:r>
          </a:p>
        </p:txBody>
      </p:sp>
      <p:pic>
        <p:nvPicPr>
          <p:cNvPr id="15" name="Геометрия" descr="geo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417320"/>
            <a:ext cx="3315522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0" y="6089904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ru-RU" sz="1050" b="0">
                <a:solidFill>
                  <a:srgbClr val="6A6A70"/>
                </a:solidFill>
                <a:latin typeface="IBM Plex Mono"/>
              </a:rPr>
              <a:t>СФУ, 26–27 сентября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Фундамент">
      <a:dk1>
        <a:srgbClr val="161616"/>
      </a:dk1>
      <a:lt1>
        <a:srgbClr val="FFFFFF"/>
      </a:lt1>
      <a:dk2>
        <a:srgbClr val="6A6A70"/>
      </a:dk2>
      <a:lt2>
        <a:srgbClr val="ECEEF3"/>
      </a:lt2>
      <a:accent1>
        <a:srgbClr val="E03A42"/>
      </a:accent1>
      <a:accent2>
        <a:srgbClr val="FF4F55"/>
      </a:accent2>
      <a:accent3>
        <a:srgbClr val="161616"/>
      </a:accent3>
      <a:accent4>
        <a:srgbClr val="6A6A70"/>
      </a:accent4>
      <a:accent5>
        <a:srgbClr val="2E8B57"/>
      </a:accent5>
      <a:accent6>
        <a:srgbClr val="A7A7B1"/>
      </a:accent6>
      <a:hlink>
        <a:srgbClr val="E03A42"/>
      </a:hlink>
      <a:folHlink>
        <a:srgbClr val="6A6A70"/>
      </a:folHlink>
    </a:clrScheme>
    <a:fontScheme name="Фундамент">
      <a:majorFont>
        <a:latin typeface="Jost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Jo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1625</Words>
  <Application>Microsoft Office PowerPoint</Application>
  <PresentationFormat>Широкоэкранный</PresentationFormat>
  <Paragraphs>261</Paragraphs>
  <Slides>11</Slides>
  <Notes>11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Jost</vt:lpstr>
      <vt:lpstr>Jost SemiBold</vt:lpstr>
      <vt:lpstr>Jost Medium</vt:lpstr>
      <vt:lpstr>IBM Plex Mono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 проектировщика фундамента: защита MVP</dc:title>
  <dc:subject>Стартап-хакатон «Пятый элемент» 2026</dc:subject>
  <dc:creator>Команда «Помощник проектировщика фундамента»</dc:creator>
  <cp:keywords/>
  <dc:description>generated using python-pptx</dc:description>
  <cp:lastModifiedBy>Илья Аверкин</cp:lastModifiedBy>
  <cp:revision>5</cp:revision>
  <dcterms:created xsi:type="dcterms:W3CDTF">2013-01-27T09:14:16Z</dcterms:created>
  <dcterms:modified xsi:type="dcterms:W3CDTF">2026-09-27T03:41:08Z</dcterms:modified>
  <cp:category/>
</cp:coreProperties>
</file>